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Retail outlets reached</c:v>
                </c:pt>
              </c:strCache>
            </c:strRef>
          </c:tx>
          <c:spPr>
            <a:solidFill>
              <a:srgbClr val="E092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A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922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6CA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FB3D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Juhayna</c:v>
                  </c:pt>
                  <c:pt idx="1">
                    <c:v>Danone (urban)</c:v>
                  </c:pt>
                  <c:pt idx="2">
                    <c:v>Danone (+ rural)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243000</c:v>
                </c:pt>
                <c:pt idx="1">
                  <c:v>100000</c:v>
                </c:pt>
                <c:pt idx="2">
                  <c:v>150000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2A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C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12A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RESEARCH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Reaching Every Shelf: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Danone Egypt's Distribution and Availability Challenge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Malhotra's Marketing Research Process (Chapters 1 to 5)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4709160"/>
            <a:ext cx="5029200" cy="0"/>
          </a:xfrm>
          <a:prstGeom prst="line">
            <a:avLst/>
          </a:prstGeom>
          <a:noFill/>
          <a:ln w="19050">
            <a:solidFill>
              <a:srgbClr val="12A4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8920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Sabri   •   Tariq Salama   •   Ahmad Awad   •   Mahmoud Ibrahim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 Program  | 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Project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188720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993392"/>
            <a:ext cx="566928" cy="566928"/>
          </a:xfrm>
          <a:prstGeom prst="ellipse">
            <a:avLst/>
          </a:prstGeom>
          <a:solidFill>
            <a:srgbClr val="1C6CA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933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45920" y="189280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45920" y="229514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Danone's reach gap vs Juhayna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691640"/>
            <a:ext cx="82296" cy="1188720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1993392"/>
            <a:ext cx="566928" cy="566928"/>
          </a:xfrm>
          <a:prstGeom prst="ellipse">
            <a:avLst/>
          </a:prstGeom>
          <a:solidFill>
            <a:srgbClr val="12A4A4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9933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360920" y="189280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Definition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60920" y="229514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problem, research problem, hypotheses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108960"/>
            <a:ext cx="82296" cy="1188720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3410712"/>
            <a:ext cx="566928" cy="566928"/>
          </a:xfrm>
          <a:prstGeom prst="ellipse">
            <a:avLst/>
          </a:prstGeom>
          <a:solidFill>
            <a:srgbClr val="E0922F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4107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645920" y="331012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Design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645920" y="371246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+ descriptive, secondary data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3108960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63640" y="3108960"/>
            <a:ext cx="82296" cy="1188720"/>
          </a:xfrm>
          <a:prstGeom prst="rect">
            <a:avLst/>
          </a:prstGeom>
          <a:solidFill>
            <a:srgbClr val="E1604D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0" y="3410712"/>
            <a:ext cx="566928" cy="566928"/>
          </a:xfrm>
          <a:prstGeom prst="ellipse">
            <a:avLst/>
          </a:prstGeom>
          <a:solidFill>
            <a:srgbClr val="E1604D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34107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360920" y="331012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Qualitative Research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360920" y="371246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interviews with shop owners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526280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4526280"/>
            <a:ext cx="82296" cy="11887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30" name="Shape 28"/>
          <p:cNvSpPr/>
          <p:nvPr/>
        </p:nvSpPr>
        <p:spPr>
          <a:xfrm>
            <a:off x="868680" y="4828032"/>
            <a:ext cx="566928" cy="56692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48280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645920" y="472744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Survey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645920" y="512978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consumer survey and analysis plan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63640" y="4526280"/>
            <a:ext cx="5440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63640" y="4526280"/>
            <a:ext cx="82296" cy="1188720"/>
          </a:xfrm>
          <a:prstGeom prst="rect">
            <a:avLst/>
          </a:prstGeom>
          <a:solidFill>
            <a:srgbClr val="0F2C4C"/>
          </a:solidFill>
          <a:ln/>
        </p:spPr>
      </p:sp>
      <p:sp>
        <p:nvSpPr>
          <p:cNvPr id="36" name="Shape 34"/>
          <p:cNvSpPr/>
          <p:nvPr/>
        </p:nvSpPr>
        <p:spPr>
          <a:xfrm>
            <a:off x="6583680" y="4828032"/>
            <a:ext cx="566928" cy="566928"/>
          </a:xfrm>
          <a:prstGeom prst="ellipse">
            <a:avLst/>
          </a:prstGeom>
          <a:solidFill>
            <a:srgbClr val="0F2C4C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0" y="48280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360920" y="472744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7360920" y="512978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the management question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6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Danone Reaches Far Fewer Shops Than Juhayna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Egypt's dairy market the battle is won at the small grocery store. Juhayna's vast owned fleet puts it on far more shelves than Danone.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286000"/>
            <a:ext cx="3566160" cy="109728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060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09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~243,000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outlets reached by Juhayna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228600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2286000"/>
            <a:ext cx="3566160" cy="109728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26060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C6C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~100,000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617720" y="35204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of sale reached by Danone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228600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38160" y="2286000"/>
            <a:ext cx="3566160" cy="109728"/>
          </a:xfrm>
          <a:prstGeom prst="rect">
            <a:avLst/>
          </a:prstGeom>
          <a:solidFill>
            <a:srgbClr val="E1604D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0" y="26060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16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~40-60%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412480" y="35204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gap vs Juhayna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11064240" cy="1325880"/>
          </a:xfrm>
          <a:prstGeom prst="rect">
            <a:avLst/>
          </a:prstGeom>
          <a:solidFill>
            <a:srgbClr val="0F2C4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709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traditional grocers are 96.6% of all outlets and about 74% of dairy sales. When Danone is not on the shelf, shoppers simply buy whatever brand is there.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Marketing Research Process We Followed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1188720" cy="1188720"/>
          </a:xfrm>
          <a:prstGeom prst="ellipse">
            <a:avLst/>
          </a:prstGeom>
          <a:solidFill>
            <a:srgbClr val="1C6CA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031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03120" y="2697480"/>
            <a:ext cx="411480" cy="0"/>
          </a:xfrm>
          <a:prstGeom prst="line">
            <a:avLst/>
          </a:prstGeom>
          <a:noFill/>
          <a:ln w="25400">
            <a:solidFill>
              <a:srgbClr val="6B7C8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70632" y="2103120"/>
            <a:ext cx="1188720" cy="1188720"/>
          </a:xfrm>
          <a:prstGeom prst="ellipse">
            <a:avLst/>
          </a:prstGeom>
          <a:solidFill>
            <a:srgbClr val="12A4A4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70632" y="21031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404872" y="3429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approach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50792" y="2697480"/>
            <a:ext cx="411480" cy="0"/>
          </a:xfrm>
          <a:prstGeom prst="line">
            <a:avLst/>
          </a:prstGeom>
          <a:noFill/>
          <a:ln w="25400">
            <a:solidFill>
              <a:srgbClr val="6B7C8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18304" y="2103120"/>
            <a:ext cx="1188720" cy="1188720"/>
          </a:xfrm>
          <a:prstGeom prst="ellipse">
            <a:avLst/>
          </a:prstGeom>
          <a:solidFill>
            <a:srgbClr val="E0922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18304" y="21031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352544" y="3429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98464" y="2697480"/>
            <a:ext cx="411480" cy="0"/>
          </a:xfrm>
          <a:prstGeom prst="line">
            <a:avLst/>
          </a:prstGeom>
          <a:noFill/>
          <a:ln w="25400">
            <a:solidFill>
              <a:srgbClr val="6B7C8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65976" y="2103120"/>
            <a:ext cx="1188720" cy="1188720"/>
          </a:xfrm>
          <a:prstGeom prst="ellipse">
            <a:avLst/>
          </a:prstGeom>
          <a:solidFill>
            <a:srgbClr val="E1604D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65976" y="21031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300216" y="3429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46136" y="2697480"/>
            <a:ext cx="411480" cy="0"/>
          </a:xfrm>
          <a:prstGeom prst="line">
            <a:avLst/>
          </a:prstGeom>
          <a:noFill/>
          <a:ln w="25400">
            <a:solidFill>
              <a:srgbClr val="6B7C8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613648" y="2103120"/>
            <a:ext cx="1188720" cy="1188720"/>
          </a:xfrm>
          <a:prstGeom prst="ellipse">
            <a:avLst/>
          </a:prstGeom>
          <a:solidFill>
            <a:srgbClr val="2E8B57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13648" y="21031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8247888" y="3429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893808" y="2697480"/>
            <a:ext cx="411480" cy="0"/>
          </a:xfrm>
          <a:prstGeom prst="line">
            <a:avLst/>
          </a:prstGeom>
          <a:noFill/>
          <a:ln w="25400">
            <a:solidFill>
              <a:srgbClr val="6B7C8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561320" y="2103120"/>
            <a:ext cx="1188720" cy="1188720"/>
          </a:xfrm>
          <a:prstGeom prst="ellipse">
            <a:avLst/>
          </a:prstGeom>
          <a:solidFill>
            <a:srgbClr val="0F2C4C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561320" y="21031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10195560" y="34290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66344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maps to our report:  </a:t>
            </a:r>
            <a:pPr indent="0" marL="0">
              <a:buNone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1-2 are Chapter 2,  Step 3 is Chapter 3,  Step 4 is Chapters 4 and 5 (interviews + survey),  Steps 5-6 are the analysis and this report.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Company and the Market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4206240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6C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Danone Egypt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800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Competes in dairy: yogurt, Activia, and Danette desserts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built on premium, branded, value-added products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Activia grew in 2024 on a gut-health and immunity message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Competes through brand strength, not mass reach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949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691640"/>
            <a:ext cx="82296" cy="4206240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920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9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Egyptian Dairy Market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37960" y="2423160"/>
            <a:ext cx="4800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about USD 2.37 billion in 2024 and growing fast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Crowded: Juhayna, Domty, Almarai/Beyti, Lactalis, Danone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champions are vertically integrated and low cost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small shops dominate distribution and sales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Defining the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114800"/>
          </a:xfrm>
          <a:prstGeom prst="rect">
            <a:avLst/>
          </a:prstGeom>
          <a:solidFill>
            <a:srgbClr val="0F2C4C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116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A4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 Decision 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management DO?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15468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“Should Danone Egypt expand its distribution reach to compete with Juhayna's coverage in the Egyptian dairy market?”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94960" cy="4114800"/>
          </a:xfrm>
          <a:prstGeom prst="rect">
            <a:avLst/>
          </a:prstGeom>
          <a:solidFill>
            <a:srgbClr val="1C6CA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20116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DE7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 Research Problem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7960" y="2651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D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INFORMATION do we need?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315468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how limited availability affects consumers' yogurt choices and Danone's lost sales, and identify the distribution barriers from the retailer's side.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Questions and Hypotheses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 four hypotheses with the survey data: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57400"/>
            <a:ext cx="82296" cy="822960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212848"/>
            <a:ext cx="512064" cy="512064"/>
          </a:xfrm>
          <a:prstGeom prst="ellipse">
            <a:avLst/>
          </a:prstGeom>
          <a:solidFill>
            <a:srgbClr val="1C6CA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128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08760" y="20574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significantly influences which yogurt brand consumers choose.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017520"/>
            <a:ext cx="82296" cy="822960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172968"/>
            <a:ext cx="512064" cy="512064"/>
          </a:xfrm>
          <a:prstGeom prst="ellipse">
            <a:avLst/>
          </a:prstGeom>
          <a:solidFill>
            <a:srgbClr val="12A4A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172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08760" y="301752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Danone's perceived availability is significantly lower than Juhayna's.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977640"/>
            <a:ext cx="82296" cy="822960"/>
          </a:xfrm>
          <a:prstGeom prst="rect">
            <a:avLst/>
          </a:prstGeom>
          <a:solidFill>
            <a:srgbClr val="E1604D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133088"/>
            <a:ext cx="512064" cy="512064"/>
          </a:xfrm>
          <a:prstGeom prst="ellipse">
            <a:avLst/>
          </a:prstGeom>
          <a:solidFill>
            <a:srgbClr val="E1604D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1330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39776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consumers have switched away from Danone because it was not available.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937760"/>
            <a:ext cx="82296" cy="822960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093208"/>
            <a:ext cx="512064" cy="512064"/>
          </a:xfrm>
          <a:prstGeom prst="ellipse">
            <a:avLst/>
          </a:prstGeom>
          <a:solidFill>
            <a:srgbClr val="E0922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0932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508760" y="493776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availability gap is wider in rural areas than in major cities.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Design: A Combination Approach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82296" cy="3931920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A4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issue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4800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data on the dairy market and distribution networks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depth interviews with small-shop owners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 and sharpens the survey questions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94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783080"/>
            <a:ext cx="82296" cy="3931920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6C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Descriptive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37960" y="2468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relationships (cross-sectional)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2971800"/>
            <a:ext cx="4800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structured consumer survey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availability, brand choice, and switching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the four hypotheses with real respondents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Secondary Data: The Distribution Gap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492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783080"/>
            <a:ext cx="4297680" cy="4023360"/>
          </a:xfrm>
          <a:prstGeom prst="rect">
            <a:avLst/>
          </a:prstGeom>
          <a:solidFill>
            <a:srgbClr val="0F2C4C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589520" y="1965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A4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numbers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589520" y="2423160"/>
            <a:ext cx="3794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Juhayna: 39 distribution centers, 1,000+ vehicles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Danone: 31 centers (7 direct, 24 indirect)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rural reach via ~380 micro-distributors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Juhayna's network is hard and costly to replicate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2A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Small Shop Decides the Game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2743200"/>
          </a:xfrm>
          <a:prstGeom prst="rect">
            <a:avLst/>
          </a:prstGeom>
          <a:solidFill>
            <a:srgbClr val="163A5E"/>
          </a:solidFill>
          <a:ln w="12700">
            <a:solidFill>
              <a:srgbClr val="2750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2606040" cy="109728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6888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2A4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96.6%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retail outlets in Egypt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01568" y="2011680"/>
            <a:ext cx="2606040" cy="2743200"/>
          </a:xfrm>
          <a:prstGeom prst="rect">
            <a:avLst/>
          </a:prstGeom>
          <a:solidFill>
            <a:srgbClr val="163A5E"/>
          </a:solidFill>
          <a:ln w="12700">
            <a:solidFill>
              <a:srgbClr val="2750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01568" y="2011680"/>
            <a:ext cx="2606040" cy="109728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10" name="Text 8"/>
          <p:cNvSpPr/>
          <p:nvPr/>
        </p:nvSpPr>
        <p:spPr>
          <a:xfrm>
            <a:off x="3401568" y="246888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09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493008" y="36118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dairy sales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54496" y="2011680"/>
            <a:ext cx="2606040" cy="2743200"/>
          </a:xfrm>
          <a:prstGeom prst="rect">
            <a:avLst/>
          </a:prstGeom>
          <a:solidFill>
            <a:srgbClr val="163A5E"/>
          </a:solidFill>
          <a:ln w="12700">
            <a:solidFill>
              <a:srgbClr val="2750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54496" y="2011680"/>
            <a:ext cx="2606040" cy="109728"/>
          </a:xfrm>
          <a:prstGeom prst="rect">
            <a:avLst/>
          </a:prstGeom>
          <a:solidFill>
            <a:srgbClr val="7FB3DE"/>
          </a:solidFill>
          <a:ln/>
        </p:spPr>
      </p:sp>
      <p:sp>
        <p:nvSpPr>
          <p:cNvPr id="14" name="Text 12"/>
          <p:cNvSpPr/>
          <p:nvPr/>
        </p:nvSpPr>
        <p:spPr>
          <a:xfrm>
            <a:off x="6254496" y="246888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FB3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113,724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345936" y="36118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grocers nationwide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07424" y="2011680"/>
            <a:ext cx="2606040" cy="2743200"/>
          </a:xfrm>
          <a:prstGeom prst="rect">
            <a:avLst/>
          </a:prstGeom>
          <a:solidFill>
            <a:srgbClr val="163A5E"/>
          </a:solidFill>
          <a:ln w="12700">
            <a:solidFill>
              <a:srgbClr val="2750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07424" y="2011680"/>
            <a:ext cx="2606040" cy="10972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8" name="Text 16"/>
          <p:cNvSpPr/>
          <p:nvPr/>
        </p:nvSpPr>
        <p:spPr>
          <a:xfrm>
            <a:off x="9107424" y="246888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$2.37B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9198864" y="36118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market size, 2024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decisive channel is the neighbourhood shop, shelf presence is everything.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6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Qualitative Research: The Retailer's Side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82296" cy="4114800"/>
          </a:xfrm>
          <a:prstGeom prst="rect">
            <a:avLst/>
          </a:prstGeom>
          <a:solidFill>
            <a:srgbClr val="E1604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6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 depth interviews, 10 to 15 minutes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5 small grocery owners, mixing city and village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interviews, not focus groups: retailers are rivals and busy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 the availability gap exists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94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737360"/>
            <a:ext cx="82296" cy="4114800"/>
          </a:xfrm>
          <a:prstGeom prst="rect">
            <a:avLst/>
          </a:prstGeom>
          <a:solidFill>
            <a:srgbClr val="5B6B7A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965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ask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2468880"/>
            <a:ext cx="4800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yogurt brands do you stock, and which sells most?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does the Juhayna rep visit versus the Danone rep?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Delivery, credit terms, returns, and fridge support?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customers ask for Danone when it is not there?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Survey: Our Primary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00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82296" cy="41148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electronic survey (Google Forms)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5806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Self-administered, in Egyptian Arabic, about 4 minutes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via WhatsApp and social media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 and snowball sampling, target 100 to 150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sections: screening, where they buy, choice drivers, availability, attitudes, demographics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low cost, wide reach; online skew noted as a limitation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23760" y="1737360"/>
            <a:ext cx="4389120" cy="4114800"/>
          </a:xfrm>
          <a:prstGeom prst="rect">
            <a:avLst/>
          </a:prstGeom>
          <a:solidFill>
            <a:srgbClr val="0F2C4C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98080" y="1965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A4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question earns its place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0" y="242316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 -  importance of availability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 -  availability grid: Danone vs Juhayna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 -  preferred vs actually-bought gap</a:t>
            </a:r>
            <a:endParaRPr lang="en-US" sz="13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 -  availability split by area type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Will Analyze the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3520440" cy="91440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3911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6C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 and demographic / geographic profile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97680" y="1783080"/>
            <a:ext cx="3520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0" y="1783080"/>
            <a:ext cx="3520440" cy="91440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203911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A4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Choice drivers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26280" y="25603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availability against price, taste, and health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0" y="1783080"/>
            <a:ext cx="3520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0" y="1783080"/>
            <a:ext cx="3520440" cy="91440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203911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9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Availability gap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75320" y="25603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Danone vs Juhayna availability scores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3520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794760"/>
            <a:ext cx="3520440" cy="91440"/>
          </a:xfrm>
          <a:prstGeom prst="rect">
            <a:avLst/>
          </a:prstGeom>
          <a:solidFill>
            <a:srgbClr val="E1604D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507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160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Lost sales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77240" y="45720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who could not find Danone and what they did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97680" y="3794760"/>
            <a:ext cx="3520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0" y="3794760"/>
            <a:ext cx="3520440" cy="9144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40507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Preferred vs bought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26280" y="45720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switching from the brand-preference gap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046720" y="3794760"/>
            <a:ext cx="3520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0" y="3794760"/>
            <a:ext cx="3520440" cy="91440"/>
          </a:xfrm>
          <a:prstGeom prst="rect">
            <a:avLst/>
          </a:prstGeom>
          <a:solidFill>
            <a:srgbClr val="0F2C4C"/>
          </a:solidFill>
          <a:ln/>
        </p:spPr>
      </p:sp>
      <p:sp>
        <p:nvSpPr>
          <p:cNvPr id="26" name="Text 24"/>
          <p:cNvSpPr/>
          <p:nvPr/>
        </p:nvSpPr>
        <p:spPr>
          <a:xfrm>
            <a:off x="8275320" y="40507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Urban vs rural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275320" y="457200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 availability by area type for H4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6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C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Preliminary Recommendations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the survey results, the evidence already points to four directions: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40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57400"/>
            <a:ext cx="82296" cy="1645920"/>
          </a:xfrm>
          <a:prstGeom prst="rect">
            <a:avLst/>
          </a:prstGeom>
          <a:solidFill>
            <a:srgbClr val="1C6CA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585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6C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 the gap where it hurts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770632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coverage in dense traditional-trade areas where small shops drive most sales.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057400"/>
            <a:ext cx="5440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2057400"/>
            <a:ext cx="82296" cy="1645920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2585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A4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 to scale reach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37960" y="2770632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third-party or partner distribution to widen reach faster and cheaper than an owned fleet.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440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931920"/>
            <a:ext cx="82296" cy="1645920"/>
          </a:xfrm>
          <a:prstGeom prst="rect">
            <a:avLst/>
          </a:prstGeom>
          <a:solidFill>
            <a:srgbClr val="E0922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3308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9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 the shelf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4645152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rep visit frequency, refrigeration, and trade terms to earn space from rivals.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3931920"/>
            <a:ext cx="54406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3931920"/>
            <a:ext cx="82296" cy="16459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413308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 rural smartly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37960" y="4645152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micro-distribution where conventional cold-chain logistics are not yet viable.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 Egypt Distribution | Marketing Research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C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2A4A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3774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4206240"/>
            <a:ext cx="4572000" cy="0"/>
          </a:xfrm>
          <a:prstGeom prst="line">
            <a:avLst/>
          </a:prstGeom>
          <a:noFill/>
          <a:ln w="19050">
            <a:solidFill>
              <a:srgbClr val="12A4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Sabri  •  Tariq Salama  •  Ahmad Awad  •  Mahmoud Ibrahim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Danone Egypt Distribution Market Research</dc:title>
  <dc:subject>PptxGenJS Presentation</dc:subject>
  <dc:creator>EMBA Marketing Research Group</dc:creator>
  <cp:lastModifiedBy>EMBA Marketing Research Group</cp:lastModifiedBy>
  <cp:revision>1</cp:revision>
  <dcterms:created xsi:type="dcterms:W3CDTF">2026-06-16T17:09:48Z</dcterms:created>
  <dcterms:modified xsi:type="dcterms:W3CDTF">2026-06-16T17:09:48Z</dcterms:modified>
</cp:coreProperties>
</file>