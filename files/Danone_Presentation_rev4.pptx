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Retail outlets reached</c:v>
                </c:pt>
              </c:strCache>
            </c:strRef>
          </c:tx>
          <c:spPr>
            <a:solidFill>
              <a:srgbClr val="E09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92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6CA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Juhayna</c:v>
                  </c:pt>
                  <c:pt idx="1">
                    <c:v>Danone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136000</c:v>
                </c:pt>
                <c:pt idx="1">
                  <c:v>100000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(1-5)</c:v>
                </c:pt>
              </c:strCache>
            </c:strRef>
          </c:tx>
          <c:spPr>
            <a:solidFill>
              <a:srgbClr val="1C6CA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Taste</c:v>
                  </c:pt>
                  <c:pt idx="1">
                    <c:v>Health</c:v>
                  </c:pt>
                  <c:pt idx="2">
                    <c:v>Brand rep.</c:v>
                  </c:pt>
                  <c:pt idx="3">
                    <c:v>Price</c:v>
                  </c:pt>
                  <c:pt idx="4">
                    <c:v>Promotions</c:v>
                  </c:pt>
                  <c:pt idx="5">
                    <c:v>Availability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4.14</c:v>
                </c:pt>
                <c:pt idx="1">
                  <c:v>3.83</c:v>
                </c:pt>
                <c:pt idx="2">
                  <c:v>3.51</c:v>
                </c:pt>
                <c:pt idx="3">
                  <c:v>3.43</c:v>
                </c:pt>
                <c:pt idx="4">
                  <c:v>3.4</c:v>
                </c:pt>
                <c:pt idx="5">
                  <c:v>3.14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Availability</c:v>
                </c:pt>
              </c:strCache>
            </c:strRef>
          </c:tx>
          <c:spPr>
            <a:solidFill>
              <a:srgbClr val="E0922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92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6CA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3D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Juhayna</c:v>
                  </c:pt>
                  <c:pt idx="1">
                    <c:v>Danone</c:v>
                  </c:pt>
                  <c:pt idx="2">
                    <c:v>Beyti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4.56</c:v>
                </c:pt>
                <c:pt idx="1">
                  <c:v>4.03</c:v>
                </c:pt>
                <c:pt idx="2">
                  <c:v>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A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Danone</c:v>
                </c:pt>
              </c:strCache>
            </c:strRef>
          </c:tx>
          <c:spPr>
            <a:solidFill>
              <a:srgbClr val="1C6C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Major city</c:v>
                  </c:pt>
                  <c:pt idx="1">
                    <c:v>Town</c:v>
                  </c:pt>
                  <c:pt idx="2">
                    <c:v>Village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4.09</c:v>
                </c:pt>
                <c:pt idx="1">
                  <c:v>3.9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Juhayna</c:v>
                </c:pt>
              </c:strCache>
            </c:strRef>
          </c:tx>
          <c:spPr>
            <a:solidFill>
              <a:srgbClr val="E09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Major city</c:v>
                  </c:pt>
                  <c:pt idx="1">
                    <c:v>Town</c:v>
                  </c:pt>
                  <c:pt idx="2">
                    <c:v>Village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4.59</c:v>
                </c:pt>
                <c:pt idx="1">
                  <c:v>4.6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C8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msamms.github.io/danone-distribution-research/" TargetMode="External"/><Relationship Id="rId4" Type="http://schemas.openxmlformats.org/officeDocument/2006/relationships/hyperlink" Target="https://docs.google.com/forms/d/e/1FAIpQLScVPcKU_uUco7wkGoxi-1Q1cWAMERAO0ZktjXhLDSeKuEVD8Q/viewform" TargetMode="External"/><Relationship Id="rId1" Type="http://schemas.openxmlformats.org/officeDocument/2006/relationships/image" Target="../media/image-20-1.png"/><Relationship Id="rId3" Type="http://schemas.openxmlformats.org/officeDocument/2006/relationships/image" Target="../media/image-20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RESEARCH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Reaching Every Shelf: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Danone Egypt's Distribution and Availability Challenge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Malhotra's Marketing Research Process (Chapters 1 to 5)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709160"/>
            <a:ext cx="5029200" cy="0"/>
          </a:xfrm>
          <a:prstGeom prst="line">
            <a:avLst/>
          </a:prstGeom>
          <a:noFill/>
          <a:ln w="19050">
            <a:solidFill>
              <a:srgbClr val="12A4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92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Sabri   •   Tariq Salama   •   Ahmad Awad   •   Mahmoud Ibrahim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 Program  |  2026   •   Course project: full research cycle, consumer survey N = 35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Full-Cycle Learning Exercise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course project. Our objective was to correctly walk the ENTIRE marketing research process, from problem definition to final recommendation, applying every chapter in sequence, not to publish market-grade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468880"/>
            <a:ext cx="82296" cy="320040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set out to 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Define, design, collect, analyze, and report, every stage in order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 qualitative (interviews) and quantitative (survey) methods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four hypotheses and test them against the data we gathered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 defensible management recommendation at the 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468880"/>
            <a:ext cx="82296" cy="320040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transparent about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3200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sample, N = 35, urban-skewed: indicative, not representative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retailer interviews are simulated composites built from secondary sources, used to illustrate the qualitative method, not offered as field evidence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here is the process, executed correctly from start to 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18872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93392"/>
            <a:ext cx="566928" cy="566928"/>
          </a:xfrm>
          <a:prstGeom prst="ellipse">
            <a:avLst/>
          </a:prstGeom>
          <a:solidFill>
            <a:srgbClr val="1C6CA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892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22951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Danone's reach gap vs Juhayna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91640"/>
            <a:ext cx="82296" cy="118872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993392"/>
            <a:ext cx="566928" cy="566928"/>
          </a:xfrm>
          <a:prstGeom prst="ellipse">
            <a:avLst/>
          </a:prstGeom>
          <a:solidFill>
            <a:srgbClr val="12A4A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60920" y="1892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Definition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60920" y="22951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problem, research problem, hypotheses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82296" cy="118872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410712"/>
            <a:ext cx="566928" cy="566928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10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33101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Design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45920" y="37124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+ descriptive, secondary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10896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3108960"/>
            <a:ext cx="82296" cy="118872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3410712"/>
            <a:ext cx="566928" cy="566928"/>
          </a:xfrm>
          <a:prstGeom prst="ellipse">
            <a:avLst/>
          </a:prstGeom>
          <a:solidFill>
            <a:srgbClr val="E1604D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410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60920" y="33101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Research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60920" y="37124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interviews with shop owners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526280"/>
            <a:ext cx="82296" cy="1188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4828032"/>
            <a:ext cx="566928" cy="5669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828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645920" y="47274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Survey &amp; Results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645920" y="51297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consumer survey, N = 35, findings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45262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4526280"/>
            <a:ext cx="82296" cy="118872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3680" y="4828032"/>
            <a:ext cx="566928" cy="56692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4828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360920" y="47274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360920" y="51297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management question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Juhayna Reaches More Shops Than Danone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Egypt's dairy market the battle is won at the small grocery store. Juhayna's owned cold-chain network puts it on roughly a third more shelves than Danone (company-reported figures, July 2026).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3566160" cy="10972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~136,000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reached by Juhayna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286000"/>
            <a:ext cx="3566160" cy="109728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~100,000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sale reached by Danone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2286000"/>
            <a:ext cx="3566160" cy="109728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~26%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outlets for Danone (~36,000 shops)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132588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traditional grocers are about 97% of retail food outlets and carry about 74% of retail food sales (USDA, 2019). When Danone is not on the shelf, shoppers simply buy whatever brand is there.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Marketing Research Process We Followed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188720" cy="1188720"/>
          </a:xfrm>
          <a:prstGeom prst="ellipse">
            <a:avLst/>
          </a:prstGeom>
          <a:solidFill>
            <a:srgbClr val="1C6CA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70632" y="2103120"/>
            <a:ext cx="1188720" cy="1188720"/>
          </a:xfrm>
          <a:prstGeom prst="ellipse">
            <a:avLst/>
          </a:prstGeom>
          <a:solidFill>
            <a:srgbClr val="12A4A4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70632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04872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approach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50792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18304" y="2103120"/>
            <a:ext cx="1188720" cy="1188720"/>
          </a:xfrm>
          <a:prstGeom prst="ellipse">
            <a:avLst/>
          </a:prstGeom>
          <a:solidFill>
            <a:srgbClr val="E0922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52544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98464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65976" y="2103120"/>
            <a:ext cx="1188720" cy="1188720"/>
          </a:xfrm>
          <a:prstGeom prst="ellipse">
            <a:avLst/>
          </a:prstGeom>
          <a:solidFill>
            <a:srgbClr val="E1604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65976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00216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46136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13648" y="2103120"/>
            <a:ext cx="1188720" cy="1188720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13648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247888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93808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561320" y="2103120"/>
            <a:ext cx="1188720" cy="1188720"/>
          </a:xfrm>
          <a:prstGeom prst="ellipse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61320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0195560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maps to our report:  </a:t>
            </a:r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1-2 are Chapter 2,  Step 3 is Chapter 3,  Step 4 is Chapters 4 and 5 (interviews + survey),  Steps 5-6 are the analysis and this report.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Company and the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Danone Egypt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in dairy: yogurt, Activia, and Danette desserts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built on premium, branded, value-added products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Activia grew in 2024 on a gut-health and immunity message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through brand strength, not mass reach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91640"/>
            <a:ext cx="82296" cy="420624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Egyptian Dairy Market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and eggs worth about USD 2.59 billion in 2025, growing fast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Crowded: Juhayna, Domty, Almarai/Beyti, Lactalis, Danone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champions are vertically integrated and low cost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small shops dominate distribution and sales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Decision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management DO?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Danone Egypt expand its distribution reach to compete with Juhayna's coverage in the Egyptian dairy market?”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114800"/>
          </a:xfrm>
          <a:prstGeom prst="rect">
            <a:avLst/>
          </a:prstGeom>
          <a:solidFill>
            <a:srgbClr val="1C6CA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E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Research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do we need?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1546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how limited availability affects consumers' yogurt choices and Danone's lost sales, and identify the distribution barriers from the retailer's side.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 and Hypotheses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four hypotheses with the survey data: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82296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12848"/>
            <a:ext cx="512064" cy="512064"/>
          </a:xfrm>
          <a:prstGeom prst="ellipse">
            <a:avLst/>
          </a:prstGeom>
          <a:solidFill>
            <a:srgbClr val="1C6CA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128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significantly influences which yogurt brand consumers choose.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017520"/>
            <a:ext cx="82296" cy="82296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172968"/>
            <a:ext cx="512064" cy="512064"/>
          </a:xfrm>
          <a:prstGeom prst="ellipse">
            <a:avLst/>
          </a:prstGeom>
          <a:solidFill>
            <a:srgbClr val="12A4A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72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17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Danone's perceived availability is significantly lower than Juhayna's.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977640"/>
            <a:ext cx="82296" cy="82296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133088"/>
            <a:ext cx="512064" cy="512064"/>
          </a:xfrm>
          <a:prstGeom prst="ellipse">
            <a:avLst/>
          </a:prstGeom>
          <a:solidFill>
            <a:srgbClr val="E1604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33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776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consumers have switched away from Danone because it was not available.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937760"/>
            <a:ext cx="82296" cy="82296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093208"/>
            <a:ext cx="512064" cy="512064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93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9377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availability gap is wider in rural areas than in major cities.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Conceptual Model Behind the Hypotheses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variables feed one consumer outcome. Each hypothesis tests one arrow of this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82296" cy="658368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/ Availability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independent variable under study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0520" y="2203704"/>
            <a:ext cx="731520" cy="0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642616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42616"/>
            <a:ext cx="82296" cy="658368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883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30083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purchase driver we measure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971800"/>
            <a:ext cx="731520" cy="0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410712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410712"/>
            <a:ext cx="82296" cy="658368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564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preference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37764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purchase driver we measure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60520" y="3739896"/>
            <a:ext cx="731520" cy="0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4178808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178808"/>
            <a:ext cx="82296" cy="658368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24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type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5445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split the results by it (H2, H3)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60520" y="4507992"/>
            <a:ext cx="731520" cy="0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4946904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946904"/>
            <a:ext cx="82296" cy="658368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9926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 type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77240" y="53126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split the results by it (H4)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60520" y="5276088"/>
            <a:ext cx="731520" cy="0"/>
          </a:xfrm>
          <a:prstGeom prst="line">
            <a:avLst/>
          </a:prstGeom>
          <a:noFill/>
          <a:ln w="22225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983480" y="1874520"/>
            <a:ext cx="2697480" cy="3730752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74920" y="1874520"/>
            <a:ext cx="2514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74920" y="4983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dependent variable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72400" y="2651760"/>
            <a:ext cx="86868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772400" y="4846320"/>
            <a:ext cx="868680" cy="0"/>
          </a:xfrm>
          <a:prstGeom prst="line">
            <a:avLst/>
          </a:prstGeom>
          <a:noFill/>
          <a:ln w="25400">
            <a:solidFill>
              <a:srgbClr val="E1604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732520" y="2148840"/>
            <a:ext cx="2880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732520" y="2148840"/>
            <a:ext cx="82296" cy="10058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7" name="Text 35"/>
          <p:cNvSpPr/>
          <p:nvPr/>
        </p:nvSpPr>
        <p:spPr>
          <a:xfrm>
            <a:off x="8961120" y="22585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Buys Danone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961120" y="2651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converts to a sale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732520" y="4343400"/>
            <a:ext cx="2880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732520" y="4343400"/>
            <a:ext cx="82296" cy="100584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41" name="Text 39"/>
          <p:cNvSpPr/>
          <p:nvPr/>
        </p:nvSpPr>
        <p:spPr>
          <a:xfrm>
            <a:off x="8961120" y="445312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Switches brand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961120" y="48463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lost sale we measure in H3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8064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 one line:  </a:t>
            </a:r>
            <a:pPr indent="0" marL="0">
              <a:buNone/>
            </a:pPr>
            <a:r>
              <a:rPr lang="en-US" sz="1250" i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Reach/Availability + Price + Brand preference + Store type + Area type  →  Purchase vs Brand-switch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Design: Two of the Three Types, by Choice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393192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65960"/>
            <a:ext cx="960120" cy="347472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issue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on the market and distribution networks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interviews with small-shop owners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Sharpens the survey questions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783080"/>
            <a:ext cx="82296" cy="393192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1965960"/>
            <a:ext cx="960120" cy="347472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9659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395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1772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relationships (cross-sectional)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32918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structured consumer survey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availability, choice, switching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four hypotheses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783080"/>
            <a:ext cx="82296" cy="3931920"/>
          </a:xfrm>
          <a:prstGeom prst="rect">
            <a:avLst/>
          </a:prstGeom>
          <a:solidFill>
            <a:srgbClr val="B9C4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366760" y="1965960"/>
            <a:ext cx="1371600" cy="347472"/>
          </a:xfrm>
          <a:prstGeom prst="rect">
            <a:avLst/>
          </a:prstGeom>
          <a:solidFill>
            <a:srgbClr val="B9C4CE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1965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66760" y="2395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99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6676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X causes Y (experiment)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66760" y="32918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need a field experiment: vary availability, watch sales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feasible in a course timeline or without Danone's cooperation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our verdicts are associations, stated as such, not proven causation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Data: The Distribution Gap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402336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89520" y="2423160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Juhayna: 38 distribution centers, 1,000 vehicles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Danone: 31 centers (7 direct, 24 indirect)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OMDA project: ~380 micro-distributors serve ~50,000 rural retailers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figures are self-reported company numbers (websites, July 2026)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 Shop Decides the Game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606040" cy="109728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~97%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retail food outlets in Egypt (USDA 2019)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1568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1568" y="2011680"/>
            <a:ext cx="2606040" cy="10972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0" name="Text 8"/>
          <p:cNvSpPr/>
          <p:nvPr/>
        </p:nvSpPr>
        <p:spPr>
          <a:xfrm>
            <a:off x="3401568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493008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retail food sales (USDA 2019)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2011680"/>
            <a:ext cx="2606040" cy="109728"/>
          </a:xfrm>
          <a:prstGeom prst="rect">
            <a:avLst/>
          </a:prstGeom>
          <a:solidFill>
            <a:srgbClr val="7FB3DE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FB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113,724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45936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grocers nationwide (USDA 2019)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07424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07424" y="2011680"/>
            <a:ext cx="2606040" cy="10972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9107424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$2.59B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198864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&amp; eggs market, 2025 (IMARC)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decisive channel is the neighbourhood shop, shelf presence is everything.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4 -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Juhayna Wins the Shelf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retailer depth interviews, from city centre to village (illustrative composites). Five themes recur.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38528"/>
            <a:ext cx="82296" cy="676656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38528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 / van visits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938528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calls weekly to twice-weekly, to the door. Danone ranges from once a week in a big Cairo shop to never in the village.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06624"/>
            <a:ext cx="82296" cy="676656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06624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706624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delivers and stacks. Danone usually must be collected from a wholesaler, which lone and rural shops cannot do.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74720"/>
            <a:ext cx="82296" cy="676656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74720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terms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474720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Juhayna: small minimums, light credit, takes back near-expiry stock. Danone: cash up front, larger minimum, spoilage is the grocer's loss.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42816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242816"/>
            <a:ext cx="82296" cy="676656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42816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cooler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4242816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and Almarai supply the branded fridge. Danone rarely does; in the village, cooler plus cold delivery is the whole game.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10912"/>
            <a:ext cx="11064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010912"/>
            <a:ext cx="82296" cy="67665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10912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pull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5010912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ask by name for Activia and Danette and will wait. For plain yogurt they take whatever is on the shelf.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widens monotonically: present on city main streets  →  "Danone stops at the big city"  →  simply absent in the village.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Survey: Our Primary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41148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electronic survey (Google Forms)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5806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Self-administered, in Egyptian Arabic, about 4 minutes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via WhatsApp and social media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and snowball sampling; target was 100 to 150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N = 35 valid responses (pilot scale, indicative)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and urban skew noted; offset by the retailer interviews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23760" y="1737360"/>
            <a:ext cx="4389120" cy="411480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question earns its place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24231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-  importance of availability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-  availability grid: Danone vs Juhayna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-  preferred vs actually-bought gap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 -  availability split by area type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5 -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Answered, and What Drives Choice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737360"/>
            <a:ext cx="4069080" cy="402336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sample (N = 35)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0" y="2331720"/>
            <a:ext cx="3611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24, Sharqia 6, Cairo 2, Dakahlia 2, Beheira 1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city 23, town 10, village 2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(20%) buy from a small grocery, the key channel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Skews urban and modern-trade, so it understates the gap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availability ranks LAST of six drivers (3.14). It is a silent gatekeeper, not a stated preference.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5 -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Real, and It Costs Sales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H2 - Perceived availability (mean, 1-5)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0.53. Modest at the consumer level, but the urban sample understates it.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H3 - Unrealised demand and switching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2011680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2011680"/>
            <a:ext cx="82296" cy="1115568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1031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vs  5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0" y="2011680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Danone vs actually buy it most  →  a gap of 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3291840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09360" y="3291840"/>
            <a:ext cx="82296" cy="111556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33832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 of 35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686800" y="3291840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a competing brand when Danone was missing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4572000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4572000"/>
            <a:ext cx="82296" cy="1115568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4663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line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686800" y="4572000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sales concentrate in Activia and Danette, where buyers ask by name and will wait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9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5 -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Area, and the Verdict on Each Hypothesis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H4 - Danone vs Juhayna availability by area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City-to-town dip in the survey; only 2 rural respondents, so H4 leans on the interviews.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66560" y="1828800"/>
            <a:ext cx="4846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66560" y="1828800"/>
            <a:ext cx="82296" cy="841248"/>
          </a:xfrm>
          <a:prstGeom prst="rect">
            <a:avLst/>
          </a:prstGeom>
          <a:solidFill>
            <a:srgbClr val="6B7C8C"/>
          </a:solidFill>
          <a:ln/>
        </p:spPr>
      </p:sp>
      <p:sp>
        <p:nvSpPr>
          <p:cNvPr id="9" name="Shape 6"/>
          <p:cNvSpPr/>
          <p:nvPr/>
        </p:nvSpPr>
        <p:spPr>
          <a:xfrm>
            <a:off x="6967728" y="2011680"/>
            <a:ext cx="475488" cy="475488"/>
          </a:xfrm>
          <a:prstGeom prst="ellipse">
            <a:avLst/>
          </a:prstGeom>
          <a:solidFill>
            <a:srgbClr val="6B7C8C"/>
          </a:solidFill>
          <a:ln/>
        </p:spPr>
      </p:sp>
      <p:sp>
        <p:nvSpPr>
          <p:cNvPr id="10" name="Text 7"/>
          <p:cNvSpPr/>
          <p:nvPr/>
        </p:nvSpPr>
        <p:spPr>
          <a:xfrm>
            <a:off x="6967728" y="2011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35240" y="193852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as a stated driver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635240" y="23042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6th of 6 (3.14)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66560" y="2788920"/>
            <a:ext cx="4846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66560" y="2788920"/>
            <a:ext cx="82296" cy="84124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5" name="Shape 12"/>
          <p:cNvSpPr/>
          <p:nvPr/>
        </p:nvSpPr>
        <p:spPr>
          <a:xfrm>
            <a:off x="6967728" y="2971800"/>
            <a:ext cx="475488" cy="47548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3"/>
          <p:cNvSpPr/>
          <p:nvPr/>
        </p:nvSpPr>
        <p:spPr>
          <a:xfrm>
            <a:off x="6967728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35240" y="289864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(modestly)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635240" y="326440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4.03 vs 4.56, gap 0.53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66560" y="3749040"/>
            <a:ext cx="4846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66560" y="3749040"/>
            <a:ext cx="82296" cy="84124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1" name="Shape 18"/>
          <p:cNvSpPr/>
          <p:nvPr/>
        </p:nvSpPr>
        <p:spPr>
          <a:xfrm>
            <a:off x="6967728" y="3931920"/>
            <a:ext cx="475488" cy="47548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2" name="Text 19"/>
          <p:cNvSpPr/>
          <p:nvPr/>
        </p:nvSpPr>
        <p:spPr>
          <a:xfrm>
            <a:off x="6967728" y="3931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635240" y="385876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635240" y="42245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11 / buy 5; 32 of 35 switched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766560" y="4709160"/>
            <a:ext cx="4846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66560" y="4709160"/>
            <a:ext cx="82296" cy="84124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27" name="Shape 24"/>
          <p:cNvSpPr/>
          <p:nvPr/>
        </p:nvSpPr>
        <p:spPr>
          <a:xfrm>
            <a:off x="6967728" y="4892040"/>
            <a:ext cx="475488" cy="475488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28" name="Text 25"/>
          <p:cNvSpPr/>
          <p:nvPr/>
        </p:nvSpPr>
        <p:spPr>
          <a:xfrm>
            <a:off x="6967728" y="48920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635240" y="481888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 supported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635240" y="51846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city-town dip; clear in interviews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route-to-market, not the product. Four moves, in priority order: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64592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585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route-to-market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Juhayna's three shelf-winning levers: scheduled rep visits, near-expiry returns or consignment, and smaller minimum orders. Not advertising.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057400"/>
            <a:ext cx="82296" cy="164592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585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 the premium line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77063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Activia and Danette first, where brand-locked demand and the best retailer margin make an availability fix pay back fastest.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31920"/>
            <a:ext cx="82296" cy="164592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Towns before villages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64515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Densify suburban and town coverage first for quick payback, then reach the rural last mile via micro-distributors and solar coolers.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93192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931920"/>
            <a:ext cx="82296" cy="16459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1330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the cooler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464515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the branded fridge: a merchandising asset and the precondition for stocking chilled product where power is unreliable.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What the Exercise Taught 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name the limits of a course-scale study than overclaim. This is where a real project would go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82296" cy="347472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limitations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convenience, N = 35, Alexandria and urban-skewed; only 7 buy from small grocers, the key channel, so the gap is understated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Interviews: five simulated composites from secondary sources, not real fieldwork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directional and indicative, not statistically representative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394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194560"/>
            <a:ext cx="82296" cy="3474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more time, and what we learned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92608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100 to 150 respondents with genuine rural and small-grocer representation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 depth interviews with shop owners in each area type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learning: designing and executing the full research cycle correctly, from problem definition through to a defensible recommendation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Is Online: Scan or Click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411480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project site (Arabic)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report: problem, method, live results, and all the files, readable on any phone.</a:t>
            </a:r>
            <a:endParaRPr lang="en-US" sz="1250" dirty="0"/>
          </a:p>
        </p:txBody>
      </p:sp>
      <p:pic>
        <p:nvPicPr>
          <p:cNvPr id="8" name="Image 0" descr="assets_rev3/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232" y="3154680"/>
            <a:ext cx="2148840" cy="2148840"/>
          </a:xfrm>
          <a:prstGeom prst="rect">
            <a:avLst/>
          </a:prstGeom>
        </p:spPr>
      </p:pic>
      <p:sp>
        <p:nvSpPr>
          <p:cNvPr id="9" name="Text 6">
            <a:hlinkClick r:id="rId2" tooltip=""/>
          </p:cNvPr>
          <p:cNvSpPr/>
          <p:nvPr/>
        </p:nvSpPr>
        <p:spPr>
          <a:xfrm>
            <a:off x="868680" y="5394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https://amsamms.github.io/danone-distribution-research/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73736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1737360"/>
            <a:ext cx="82296" cy="41148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live consumer survey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37960" y="24231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Google Form (Arabic) our 35 respondents filled. Still live: try it yourself.</a:t>
            </a:r>
            <a:endParaRPr lang="en-US" sz="1250" dirty="0"/>
          </a:p>
        </p:txBody>
      </p:sp>
      <p:pic>
        <p:nvPicPr>
          <p:cNvPr id="14" name="Image 1" descr="assets_rev3/qr_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3154680"/>
            <a:ext cx="2148840" cy="2148840"/>
          </a:xfrm>
          <a:prstGeom prst="rect">
            <a:avLst/>
          </a:prstGeom>
        </p:spPr>
      </p:pic>
      <p:sp>
        <p:nvSpPr>
          <p:cNvPr id="15" name="Text 11">
            <a:hlinkClick r:id="rId4" tooltip=""/>
          </p:cNvPr>
          <p:cNvSpPr/>
          <p:nvPr/>
        </p:nvSpPr>
        <p:spPr>
          <a:xfrm>
            <a:off x="6537960" y="5394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docs.google.com/forms/... (scan the code)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206240"/>
            <a:ext cx="4572000" cy="0"/>
          </a:xfrm>
          <a:prstGeom prst="line">
            <a:avLst/>
          </a:prstGeom>
          <a:noFill/>
          <a:ln w="19050">
            <a:solidFill>
              <a:srgbClr val="12A4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Sabri  •  Tariq Salama  •  Ahmad Awad  •  Mahmoud Ibrahim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- SHOWN ON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Retailer Depth-Interview Guide</a:t>
            </a:r>
            <a:endParaRPr lang="en-US" sz="3000" dirty="0"/>
          </a:p>
        </p:txBody>
      </p:sp>
      <p:pic>
        <p:nvPicPr>
          <p:cNvPr id="4" name="Image 0" descr="assets_rev3/interview_gu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3941064" cy="55778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pic>
        <p:nvPicPr>
          <p:cNvPr id="5" name="Image 1" descr="assets_rev3/interview_guid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600200"/>
            <a:ext cx="3941064" cy="55778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- SHOWN ON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Consumer Survey As Respondents Saw It</a:t>
            </a:r>
            <a:endParaRPr lang="en-US" sz="3000" dirty="0"/>
          </a:p>
        </p:txBody>
      </p:sp>
      <p:pic>
        <p:nvPicPr>
          <p:cNvPr id="4" name="Image 0" descr="assets_rev3/gform_par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423160" cy="48920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pic>
        <p:nvPicPr>
          <p:cNvPr id="5" name="Image 1" descr="assets_rev3/gform_par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45920"/>
            <a:ext cx="2423160" cy="48920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pic>
        <p:nvPicPr>
          <p:cNvPr id="6" name="Image 2" descr="assets_rev3/gform_part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45920"/>
            <a:ext cx="2423160" cy="48920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pic>
        <p:nvPicPr>
          <p:cNvPr id="7" name="Image 3" descr="assets_rev3/gform_part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645920"/>
            <a:ext cx="2423160" cy="48920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8" name="Text 2"/>
          <p:cNvSpPr/>
          <p:nvPr/>
        </p:nvSpPr>
        <p:spPr>
          <a:xfrm>
            <a:off x="548640" y="6428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Google Form, Egyptian Arabic, 22 items in 4 sections. Read left to right, top to bottom.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- 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Behind Every Number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numbered sources as the written report. Every figure quoted in this deck traces to one of these and was re-verified against the live source on 6 July 2026.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39112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Malhotra, N. K. Essentials of Marketing Research, 1st Edition, Pearson. The research process, problem definition, research design, secondary data, qualitative research, and surveys.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59689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 Food Industries: Distribution (company website). 38 distribution centers, 1,000 vehicles, ~136,000 retail outlets served. Accessed 6 Jul 2026.   </a:t>
            </a:r>
            <a:pPr indent="0" marL="0">
              <a:buNone/>
            </a:pPr>
            <a:r>
              <a:rPr lang="en-US" sz="1050" i="1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juhayna.com/farm-to-fork/distribution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22783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Egypt: About Us and Impact (company website). 7 direct + 24 indirect distribution centers, ~100,000 points of sale, OMDA rural micro-distribution (~380 micro-distributors, ~50,000 retailers). Accessed 6 Jul 2026.   </a:t>
            </a:r>
            <a:pPr indent="0" marL="0">
              <a:buNone/>
            </a:pPr>
            <a:r>
              <a:rPr lang="en-US" sz="1050" i="1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danone.eg/about-us-new  ·  danone.eg/impact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8587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Foreign Agricultural Service: Egypt Retail Foods Report (GAIN EG19009, 27 Jun 2019). Traditional grocers 113,724, ~74% of retail food sales; modern trade 3,913 outlets (~26% of sales); traditional share of outlets ~97% (derived from these counts).   </a:t>
            </a:r>
            <a:pPr indent="0" marL="0">
              <a:buNone/>
            </a:pPr>
            <a:r>
              <a:rPr lang="en-US" sz="1050" i="1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apps.fas.usda.gov (GAIN: Retail Foods, Cairo, Egypt)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562856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62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4897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Euromonitor International: Yoghurt and Sour Milk Products in Egypt. Best Cheese Co (Lactalis) maintains category leadership. Accessed 6 Jul 2026.   </a:t>
            </a:r>
            <a:pPr indent="0" marL="0">
              <a:buNone/>
            </a:pPr>
            <a:r>
              <a:rPr lang="en-US" sz="1050" i="1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euromonitor.com/yoghurt-and-sour-milk-products-in-egypt/report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93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1206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Intelligence: Middle East and Africa Dairy Market. MEA dairy ~USD 42.83B (2025); Egypt dairy CAGR ~3.72% (2026-2031). Corroboration. Accessed 6 Jul 2026.   </a:t>
            </a:r>
            <a:pPr indent="0" marL="0">
              <a:buNone/>
            </a:pPr>
            <a:r>
              <a:rPr lang="en-US" sz="1050" i="1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mordorintelligence.com/industry-reports/middle-east-and-africa-dairy-market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824728"/>
            <a:ext cx="384048" cy="38404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824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575157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IMARC Group: Egypt Dairy Products &amp; Eggs Market. USD 2,586.1M (2025), projected USD 5,588.4M (2034), CAGR 8.49%. Accessed 6 Jul 2026.   </a:t>
            </a:r>
            <a:pPr indent="0" marL="0">
              <a:buNone/>
            </a:pPr>
            <a:r>
              <a:rPr lang="en-US" sz="1050" i="1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imarcgroup.com/egypt-dairy-products-eggs-market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Danone Egypt Distribution Market Research (rev 4)</dc:title>
  <dc:subject>PptxGenJS Presentation</dc:subject>
  <dc:creator>EMBA Marketing Research Group</dc:creator>
  <cp:lastModifiedBy>EMBA Marketing Research Group</cp:lastModifiedBy>
  <cp:revision>1</cp:revision>
  <dcterms:created xsi:type="dcterms:W3CDTF">2026-07-06T16:39:46Z</dcterms:created>
  <dcterms:modified xsi:type="dcterms:W3CDTF">2026-07-06T16:39:46Z</dcterms:modified>
</cp:coreProperties>
</file>