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 outlets reached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3D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Juhayna</c:v>
                  </c:pt>
                  <c:pt idx="1">
                    <c:v>Danone (urban)</c:v>
                  </c:pt>
                  <c:pt idx="2">
                    <c:v>Danone (+ rural)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243000</c:v>
                </c:pt>
                <c:pt idx="1">
                  <c:v>100000</c:v>
                </c:pt>
                <c:pt idx="2">
                  <c:v>150000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(1-5)</c:v>
                </c:pt>
              </c:strCache>
            </c:strRef>
          </c:tx>
          <c:spPr>
            <a:solidFill>
              <a:srgbClr val="1C6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Taste</c:v>
                  </c:pt>
                  <c:pt idx="1">
                    <c:v>Health</c:v>
                  </c:pt>
                  <c:pt idx="2">
                    <c:v>Brand rep.</c:v>
                  </c:pt>
                  <c:pt idx="3">
                    <c:v>Price</c:v>
                  </c:pt>
                  <c:pt idx="4">
                    <c:v>Promotions</c:v>
                  </c:pt>
                  <c:pt idx="5">
                    <c:v>Availability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4.14</c:v>
                </c:pt>
                <c:pt idx="1">
                  <c:v>3.83</c:v>
                </c:pt>
                <c:pt idx="2">
                  <c:v>3.51</c:v>
                </c:pt>
                <c:pt idx="3">
                  <c:v>3.43</c:v>
                </c:pt>
                <c:pt idx="4">
                  <c:v>3.4</c:v>
                </c:pt>
                <c:pt idx="5">
                  <c:v>3.14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3D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Juhayna</c:v>
                  </c:pt>
                  <c:pt idx="1">
                    <c:v>Danone</c:v>
                  </c:pt>
                  <c:pt idx="2">
                    <c:v>Beyti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4.56</c:v>
                </c:pt>
                <c:pt idx="1">
                  <c:v>4.03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Danone</c:v>
                </c:pt>
              </c:strCache>
            </c:strRef>
          </c:tx>
          <c:spPr>
            <a:solidFill>
              <a:srgbClr val="1C6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 city</c:v>
                  </c:pt>
                  <c:pt idx="1">
                    <c:v>Town</c:v>
                  </c:pt>
                  <c:pt idx="2">
                    <c:v>Village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4.09</c:v>
                </c:pt>
                <c:pt idx="1">
                  <c:v>3.9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Juhayna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 city</c:v>
                  </c:pt>
                  <c:pt idx="1">
                    <c:v>Town</c:v>
                  </c:pt>
                  <c:pt idx="2">
                    <c:v>Village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4.59</c:v>
                </c:pt>
                <c:pt idx="1">
                  <c:v>4.6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8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msamms.github.io/danone-distribution-research/" TargetMode="External"/><Relationship Id="rId4" Type="http://schemas.openxmlformats.org/officeDocument/2006/relationships/hyperlink" Target="https://docs.google.com/forms/d/e/1FAIpQLScVPcKU_uUco7wkGoxi-1Q1cWAMERAO0ZktjXhLDSeKuEVD8Q/viewform" TargetMode="Externa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RESEARCH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Every Shelf: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Egypt's Distribution and Availability Challenge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Malhotra's Marketing Research Process (Chapters 1 to 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50292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 •   Tariq Salama   •   Ahmad Awad   •   Mahmoud Ibrahim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 Program  |  2026   •   Course project: full research cycle, consumer survey N = 35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Full-Cycle Learning Exercise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course project. Our objective was to correctly walk the ENTIRE marketing research process, from problem definition to final recommendation, applying every chapter in sequence, not to publish market-grade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82296" cy="32004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design, collect, analyze, and report, every stage in order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qualitative (interviews) and quantitative (survey) methods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four hypotheses and test them against the data we gathered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defensible management recommendation at the 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468880"/>
            <a:ext cx="82296" cy="320040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transparent about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sample, N = 35, urban-skewed: indicative, not representative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retailer interviews are simulated composites built from secondary sources, used to illustrate the qualitative method, not offered as field evidence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here is the process, executed correctly from start to 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1887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93392"/>
            <a:ext cx="566928" cy="566928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reach gap vs Juhayna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82296" cy="11887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993392"/>
            <a:ext cx="566928" cy="566928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problem, research problem, hypotheses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82296" cy="11887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10712"/>
            <a:ext cx="566928" cy="56692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+ descriptive, secondary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108960"/>
            <a:ext cx="82296" cy="118872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410712"/>
            <a:ext cx="566928" cy="566928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0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Research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60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 with shop owners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526280"/>
            <a:ext cx="82296" cy="1188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82803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45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 &amp; Results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45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consumer survey, N = 35, findings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526280"/>
            <a:ext cx="82296" cy="11887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4828032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60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60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management question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Reaches Far Fewer Shops Than Juhayna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Egypt's dairy market the battle is won at the small grocery store. Juhayna's vast owned fleet puts it on far more shelves than Danone.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6616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~243,000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reached by Juhayna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286000"/>
            <a:ext cx="3566160" cy="10972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~100,000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sale reached by Danone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286000"/>
            <a:ext cx="3566160" cy="10972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~40-60%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vs Juhayna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32588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traditional grocers are 96.6% of all outlets and about 74% of dairy sales. When Danone is not on the shelf, shoppers simply buy whatever brand is there.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Marketing Research Process We Followed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2103120"/>
            <a:ext cx="1188720" cy="1188720"/>
          </a:xfrm>
          <a:prstGeom prst="ellipse">
            <a:avLst/>
          </a:prstGeom>
          <a:solidFill>
            <a:srgbClr val="12A4A4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0632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04872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50792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2103120"/>
            <a:ext cx="1188720" cy="1188720"/>
          </a:xfrm>
          <a:prstGeom prst="ellipse">
            <a:avLst/>
          </a:prstGeom>
          <a:solidFill>
            <a:srgbClr val="E0922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52544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98464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65976" y="2103120"/>
            <a:ext cx="1188720" cy="1188720"/>
          </a:xfrm>
          <a:prstGeom prst="ellipse">
            <a:avLst/>
          </a:prstGeom>
          <a:solidFill>
            <a:srgbClr val="E1604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65976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0216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46136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13648" y="2103120"/>
            <a:ext cx="1188720" cy="1188720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13648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47888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93808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61320" y="2103120"/>
            <a:ext cx="1188720" cy="1188720"/>
          </a:xfrm>
          <a:prstGeom prst="ellipse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6132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019556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maps to our report:  </a:t>
            </a:r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1-2 are Chapter 2,  Step 3 is Chapter 3,  Step 4 is Chapters 4 and 5 (interviews + survey),  Steps 5-6 are the analysis and this report.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Company and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in dairy: yogurt, Activia, and Danette desserts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built on premium, branded, value-added products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Activia grew in 2024 on a gut-health and immunity message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through brand strength, not mass reach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91640"/>
            <a:ext cx="82296" cy="420624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Egyptian Dairy Market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about USD 2.37 billion in 2024 and growing fast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Crowded: Juhayna, Domty, Almarai/Beyti, Lactalis, Danone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champions are vertically integrated and low cost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small shops dominate distribution and sales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Decision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management DO?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Danone Egypt expand its distribution reach to compete with Juhayna's coverage in the Egyptian dairy market?”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E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Research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we need?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limited availability affects consumers' yogurt choices and Danone's lost sales, and identify the distribution barriers from the retailer's side.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and Hypotheses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four hypotheses with the survey data: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82296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12848"/>
            <a:ext cx="512064" cy="512064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significantly influences which yogurt brand consumers choose.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82296" cy="82296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72968"/>
            <a:ext cx="512064" cy="512064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2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perceived availability is significantly lower than Juhayna's.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77640"/>
            <a:ext cx="82296" cy="82296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33088"/>
            <a:ext cx="512064" cy="512064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have switched away from Danone because it was not available.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937760"/>
            <a:ext cx="82296" cy="82296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093208"/>
            <a:ext cx="512064" cy="512064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93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availability gap is wider in rural areas than in major cities.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Conceptual Model Behind the Hypotheses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variables feed one consumer outcome. Each hypothesis tests one arrow of this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65836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/ Availability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under study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2203704"/>
            <a:ext cx="777240" cy="1536192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42616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42616"/>
            <a:ext cx="82296" cy="6583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88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971800"/>
            <a:ext cx="777240" cy="768096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10712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10712"/>
            <a:ext cx="82296" cy="6583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56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preference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776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3739896"/>
            <a:ext cx="777240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178808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78808"/>
            <a:ext cx="82296" cy="65836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type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544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(H2, H3)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4507992"/>
            <a:ext cx="777240" cy="-768096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4946904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946904"/>
            <a:ext cx="82296" cy="65836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992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type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5312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(H4)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5276088"/>
            <a:ext cx="777240" cy="-1536192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83480" y="3063240"/>
            <a:ext cx="3017520" cy="13716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3200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purchase decision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01000" y="3401568"/>
            <a:ext cx="685800" cy="-77724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4096512"/>
            <a:ext cx="685800" cy="777240"/>
          </a:xfrm>
          <a:prstGeom prst="line">
            <a:avLst/>
          </a:prstGeom>
          <a:noFill/>
          <a:ln w="25400">
            <a:solidFill>
              <a:srgbClr val="E1604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32520" y="214884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32520" y="2148840"/>
            <a:ext cx="82296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0" y="2258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Buys Danone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96112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converts to a sale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32520" y="434340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732520" y="4343400"/>
            <a:ext cx="82296" cy="100584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0" y="44531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Switches brand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961120" y="4846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sale we measure in H3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one line:  </a:t>
            </a:r>
            <a:pPr indent="0" marL="0">
              <a:buNone/>
            </a:pPr>
            <a:r>
              <a:rPr lang="en-US" sz="1250" i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Reach/Availability + Price + Brand preference + Store type + Area type  →  Purchase vs Brand-switch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Design: Two of the Three Types, by Choice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3931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65960"/>
            <a:ext cx="960120" cy="347472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issue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on the market and distribution networks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 with small-shop owners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the survey questions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783080"/>
            <a:ext cx="82296" cy="3931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1965960"/>
            <a:ext cx="960120" cy="347472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9659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relationships (cross-sectional)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structured consumer survey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availability, choice, switching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four hypotheses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783080"/>
            <a:ext cx="82296" cy="3931920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6760" y="1965960"/>
            <a:ext cx="1371600" cy="347472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965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99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6676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X causes Y (experiment)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6676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need a field experiment: vary availability, watch sales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feasible in a course timeline or without Danone's cooperation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our verdicts are associations, stated as such, not proven causation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Data: The Distribution Gap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39 distribution centers, 1,000+ vehicles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Danone: 31 centers (7 direct, 24 indirect)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rural reach via ~380 micro-distributors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Juhayna's network is hard and costly to replicate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Shop Decides the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retail outlets in Egypt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2011680"/>
            <a:ext cx="260604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93008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dairy sales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2011680"/>
            <a:ext cx="2606040" cy="109728"/>
          </a:xfrm>
          <a:prstGeom prst="rect">
            <a:avLst/>
          </a:prstGeom>
          <a:solidFill>
            <a:srgbClr val="7FB3DE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B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113,724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45936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grocers nationwide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7424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07424" y="2011680"/>
            <a:ext cx="260604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107424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$2.37B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98864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market size, 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decisive channel is the neighbourhood shop, shelf presence is everything.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Juhayna Wins the Shelf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retailer depth interviews, from city centre to village (illustrative composites). Five themes recur.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82296" cy="676656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 / van visits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938528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calls weekly to twice-weekly, to the door. Danone ranges from once a week in a big Cairo shop to never in the village.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06624"/>
            <a:ext cx="82296" cy="676656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0662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706624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delivers and stacks. Danone usually must be collected from a wholesaler, which lone and rural shops cannot 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74720"/>
            <a:ext cx="82296" cy="676656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terms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small minimums, light credit, takes back near-expiry stock. Danone: cash up front, larger minimum, spoilage is the grocer's loss.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42816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42816"/>
            <a:ext cx="82296" cy="676656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4281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242816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and Almarai supply the branded fridge. Danone rarely does; in the village, cooler plus cold delivery is the whole game.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10912"/>
            <a:ext cx="82296" cy="67665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1091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pull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5010912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ask by name for Activia and Danette and will wait. For plain yogurt they take whatever is on the shelf.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monotonically: present on city main streets  →  "Danone stops at the big city"  →  simply absent in the village.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Survey: Our Primary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electronic survey (Google Forms)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806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Self-administered, in Egyptian Arabic, about 4 minutes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via WhatsApp and social media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and snowball sampling; target was 100 to 150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N = 35 valid responses (pilot scale, indicative)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urban skew noted; offset by the retailer interviews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737360"/>
            <a:ext cx="438912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question earns its place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4231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-  importance of availability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-  availability grid: Danone vs Juhayna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-  preferred vs actually-bought gap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-  availability split by area type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Answered, and What Drives Choice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40690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sample (N = 35)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331720"/>
            <a:ext cx="3611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24, Sharqia 6, Cairo 2, Dakahlia 2, Beheira 1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city 23, town 10, village 2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(20%) buy from a small grocery, the key channel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Skews urban and modern-trade, so it understates the gap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availability ranks LAST of six drivers (3.14). It is a silent gatekeeper, not a stated preference.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Real, and It Costs Sales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Perceived availability (mean, 1-5)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0.53. Modest at the consumer level, but the urban sample understates it.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Unrealised demand and switching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01168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2011680"/>
            <a:ext cx="82296" cy="111556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vs  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0" y="201168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Danone vs actually buy it most  →  a gap of 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29184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3291840"/>
            <a:ext cx="82296" cy="11155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3832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of 35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0" y="329184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 competing brand when Danone was missing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457200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4572000"/>
            <a:ext cx="82296" cy="11155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line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0" y="457200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 concentrate in Activia and Danette, where buyers ask by name and will wait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Area, and the Verdict on Each Hypothesis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 — Danone vs Juhayna availability by area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City-to-town dip in the survey; only 2 rural respondents, so H4 leans on the interviews.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0" y="182880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828800"/>
            <a:ext cx="82296" cy="841248"/>
          </a:xfrm>
          <a:prstGeom prst="rect">
            <a:avLst/>
          </a:prstGeom>
          <a:solidFill>
            <a:srgbClr val="6B7C8C"/>
          </a:solidFill>
          <a:ln/>
        </p:spPr>
      </p:sp>
      <p:sp>
        <p:nvSpPr>
          <p:cNvPr id="9" name="Shape 6"/>
          <p:cNvSpPr/>
          <p:nvPr/>
        </p:nvSpPr>
        <p:spPr>
          <a:xfrm>
            <a:off x="6967728" y="2011680"/>
            <a:ext cx="475488" cy="475488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10" name="Text 7"/>
          <p:cNvSpPr/>
          <p:nvPr/>
        </p:nvSpPr>
        <p:spPr>
          <a:xfrm>
            <a:off x="6967728" y="2011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19385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as a stated driver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35240" y="23042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6th of 6 (3.14)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278892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2788920"/>
            <a:ext cx="8229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967728" y="297180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35240" y="28986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(modestly)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35240" y="32644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 vs 4.56, gap 0.53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66560" y="374904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3749040"/>
            <a:ext cx="8229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Shape 18"/>
          <p:cNvSpPr/>
          <p:nvPr/>
        </p:nvSpPr>
        <p:spPr>
          <a:xfrm>
            <a:off x="6967728" y="393192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967728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35240" y="38587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635240" y="42245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11 / buy 5; 32 of 35 switched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66560" y="470916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66560" y="4709160"/>
            <a:ext cx="82296" cy="84124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7" name="Shape 24"/>
          <p:cNvSpPr/>
          <p:nvPr/>
        </p:nvSpPr>
        <p:spPr>
          <a:xfrm>
            <a:off x="6967728" y="4892040"/>
            <a:ext cx="475488" cy="47548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8" name="Text 25"/>
          <p:cNvSpPr/>
          <p:nvPr/>
        </p:nvSpPr>
        <p:spPr>
          <a:xfrm>
            <a:off x="6967728" y="4892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635240" y="481888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supported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635240" y="51846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city-town dip; clear in interviews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route-to-market, not the product. Four moves, in priority order: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645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route-to-market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Juhayna's three shelf-winning levers: scheduled rep visits, near-expiry returns or consignment, and smaller minimum orders. Not advertising.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057400"/>
            <a:ext cx="82296" cy="1645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the premium 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706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Activia and Danette first, where brand-locked demand and the best retailer margin make an availability fix pay back fastest.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31920"/>
            <a:ext cx="82296" cy="16459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Towns before villages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Densify suburban and town coverage first for quick payback, then reach the rural last mile via micro-distributors and solar coolers.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931920"/>
            <a:ext cx="82296" cy="1645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the cooler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64515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the branded fridge: a merchandising asset and the precondition for stocking chilled product where power is unreliable.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What the Exercise Taught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name the limits of a course-scale study than overclaim. This is where a real project would go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82296" cy="347472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convenience, N = 35, Alexandria and urban-skewed; only 7 buy from small grocers, the key channel, so the gap is understated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five simulated composites from secondary sources, not real fieldwork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directional and indicative, not statistically representative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194560"/>
            <a:ext cx="82296" cy="3474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more time, and what we learned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 to 150 respondents with genuine rural and small-grocer representation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depth interviews with shop owners in each area type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learning: designing and executing the full research cycle correctly, from problem definition through to a defensible recommendation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Online: Scan or Click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project site (Arabic)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report: problem, method, live results, and all the files, readable on any phone.</a:t>
            </a:r>
            <a:endParaRPr lang="en-US" sz="1250" dirty="0"/>
          </a:p>
        </p:txBody>
      </p:sp>
      <p:pic>
        <p:nvPicPr>
          <p:cNvPr id="8" name="Image 0" descr="assets_rev3/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3154680"/>
            <a:ext cx="2148840" cy="2148840"/>
          </a:xfrm>
          <a:prstGeom prst="rect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86868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https://amsamms.github.io/danone-distribution-research/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737360"/>
            <a:ext cx="82296" cy="4114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 consumer survey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2423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Google Form (Arabic) our 35 respondents filled. Still live: try it yourself.</a:t>
            </a:r>
            <a:endParaRPr lang="en-US" sz="1250" dirty="0"/>
          </a:p>
        </p:txBody>
      </p:sp>
      <p:pic>
        <p:nvPicPr>
          <p:cNvPr id="14" name="Image 1" descr="assets_rev3/qr_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3154680"/>
            <a:ext cx="2148840" cy="2148840"/>
          </a:xfrm>
          <a:prstGeom prst="rect">
            <a:avLst/>
          </a:prstGeom>
        </p:spPr>
      </p:pic>
      <p:sp>
        <p:nvSpPr>
          <p:cNvPr id="15" name="Text 11">
            <a:hlinkClick r:id="rId4" tooltip=""/>
          </p:cNvPr>
          <p:cNvSpPr/>
          <p:nvPr/>
        </p:nvSpPr>
        <p:spPr>
          <a:xfrm>
            <a:off x="653796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docs.google.com/forms/... (scan the code)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45720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•  Tariq Salama  •  Ahmad Awad  •  Mahmoud Ibrahim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SHOWN ON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Retailer Depth-Interview Guide</a:t>
            </a:r>
            <a:endParaRPr lang="en-US" sz="3000" dirty="0"/>
          </a:p>
        </p:txBody>
      </p:sp>
      <p:pic>
        <p:nvPicPr>
          <p:cNvPr id="4" name="Image 0" descr="assets_rev3/interview_gu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3941064" cy="55778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5" name="Image 1" descr="assets_rev3/interview_guid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600200"/>
            <a:ext cx="3941064" cy="55778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SHOWN ON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Consumer Survey As Respondents Saw It</a:t>
            </a:r>
            <a:endParaRPr lang="en-US" sz="3000" dirty="0"/>
          </a:p>
        </p:txBody>
      </p:sp>
      <p:pic>
        <p:nvPicPr>
          <p:cNvPr id="4" name="Image 0" descr="assets_rev3/gform_p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5" name="Image 1" descr="assets_rev3/gform_par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6" name="Image 2" descr="assets_rev3/gform_par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7" name="Image 3" descr="assets_rev3/gform_part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8" name="Text 2"/>
          <p:cNvSpPr/>
          <p:nvPr/>
        </p:nvSpPr>
        <p:spPr>
          <a:xfrm>
            <a:off x="548640" y="6428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Google Form, Egyptian Arabic, 22 items in 4 sections. Read left to right, top to bottom.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Behind Every Number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numbered sources as the written report. Every figure quoted in this deck traces to one of these. Accessed June 2026.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Malhotra, N. K. Essentials of Marketing Research, 1st Edition, Pearson. The research process, problem definition, research design, secondary data, qualitative research, and surveys.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59689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Food Industries: Distribution (company website) + published strategic analysis. 39 distribution centers, 1,000+ vehicles, ~243,000 retail outlets.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juhayna.com/farm-to-fork/distribution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22783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Egypt: About Us and Impact (company website). 7 direct + 24 indirect distribution centers, ~100,000 points of sale, OMDA rural micro-distribution (~380 micro-distributors, ~50,000 retailers).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danone.eg/about-us-new  ·  danone.eg/impact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8587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Foreign Agricultural Service: Egypt Retail Foods Report (GAIN). Traditional grocers ~96.6% of outlets, ~74% of dairy sales, ~113,724 grocers.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apps.fas.usda.gov (GAIN: Retail Foods, Cairo, Egypt)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62856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4897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Euromonitor International: Yoghurt and Sour Milk Products in Egypt. Category leadership among Lactalis, Almarai/Beyti, Juhayna.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euromonitor.com/yoghurt-and-sour-milk-products-in-egypt/report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206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Intelligence: Middle East and Africa Dairy Market. Corroborates market size and growth.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mordorintelligence.com/industry-reports/middle-east-and-africa-dairy-market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824728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824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Futurism (Vocal Media): Egypt Dairy Products and Eggs Market Analysis. Market ~USD 2,367.9M (2024), projected ~USD 5,237.1M (2033).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vocal.media/futurism/egypt-dairy-products-and-eggs-market-analysis...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Danone Egypt Distribution Market Research (rev 3)</dc:title>
  <dc:subject>PptxGenJS Presentation</dc:subject>
  <dc:creator>EMBA Marketing Research Group</dc:creator>
  <cp:lastModifiedBy>EMBA Marketing Research Group</cp:lastModifiedBy>
  <cp:revision>1</cp:revision>
  <dcterms:created xsi:type="dcterms:W3CDTF">2026-07-05T09:01:33Z</dcterms:created>
  <dcterms:modified xsi:type="dcterms:W3CDTF">2026-07-05T09:01:33Z</dcterms:modified>
</cp:coreProperties>
</file>