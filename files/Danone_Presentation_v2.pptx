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2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3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4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Retail outlets reached</c:v>
                </c:pt>
              </c:strCache>
            </c:strRef>
          </c:tx>
          <c:spPr>
            <a:solidFill>
              <a:srgbClr val="E0922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2A3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0922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C6CA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FB3DE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Juhayna</c:v>
                  </c:pt>
                  <c:pt idx="1">
                    <c:v>Danone (urban)</c:v>
                  </c:pt>
                  <c:pt idx="2">
                    <c:v>Danone (+ rural)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243000</c:v>
                </c:pt>
                <c:pt idx="1">
                  <c:v>100000</c:v>
                </c:pt>
                <c:pt idx="2">
                  <c:v>150000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A2A3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C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C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 (1-5)</c:v>
                </c:pt>
              </c:strCache>
            </c:strRef>
          </c:tx>
          <c:spPr>
            <a:solidFill>
              <a:srgbClr val="1C6CA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2A3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Taste</c:v>
                  </c:pt>
                  <c:pt idx="1">
                    <c:v>Health</c:v>
                  </c:pt>
                  <c:pt idx="2">
                    <c:v>Brand rep.</c:v>
                  </c:pt>
                  <c:pt idx="3">
                    <c:v>Price</c:v>
                  </c:pt>
                  <c:pt idx="4">
                    <c:v>Promotions</c:v>
                  </c:pt>
                  <c:pt idx="5">
                    <c:v>Availability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4.14</c:v>
                </c:pt>
                <c:pt idx="1">
                  <c:v>3.83</c:v>
                </c:pt>
                <c:pt idx="2">
                  <c:v>3.51</c:v>
                </c:pt>
                <c:pt idx="3">
                  <c:v>3.43</c:v>
                </c:pt>
                <c:pt idx="4">
                  <c:v>3.4</c:v>
                </c:pt>
                <c:pt idx="5">
                  <c:v>3.14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A2A3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2A3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  <c:min val="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C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Availability</c:v>
                </c:pt>
              </c:strCache>
            </c:strRef>
          </c:tx>
          <c:spPr>
            <a:solidFill>
              <a:srgbClr val="E0922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2A3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0922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C6CA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FB3DE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Juhayna</c:v>
                  </c:pt>
                  <c:pt idx="1">
                    <c:v>Danone</c:v>
                  </c:pt>
                  <c:pt idx="2">
                    <c:v>Beyti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4.56</c:v>
                </c:pt>
                <c:pt idx="1">
                  <c:v>4.03</c:v>
                </c:pt>
                <c:pt idx="2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2A3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2A3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C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Danone</c:v>
                </c:pt>
              </c:strCache>
            </c:strRef>
          </c:tx>
          <c:spPr>
            <a:solidFill>
              <a:srgbClr val="1C6CA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Major city</c:v>
                  </c:pt>
                  <c:pt idx="1">
                    <c:v>Town</c:v>
                  </c:pt>
                  <c:pt idx="2">
                    <c:v>Village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4.09</c:v>
                </c:pt>
                <c:pt idx="1">
                  <c:v>3.9</c:v>
                </c:pt>
                <c:pt idx="2">
                  <c:v>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Juhayna</c:v>
                </c:pt>
              </c:strCache>
            </c:strRef>
          </c:tx>
          <c:spPr>
            <a:solidFill>
              <a:srgbClr val="E0922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Major city</c:v>
                  </c:pt>
                  <c:pt idx="1">
                    <c:v>Town</c:v>
                  </c:pt>
                  <c:pt idx="2">
                    <c:v>Village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4.59</c:v>
                </c:pt>
                <c:pt idx="1">
                  <c:v>4.6</c:v>
                </c:pt>
                <c:pt idx="2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2A3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C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6B7C8C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C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C6CAB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0"/>
            <a:ext cx="73152" cy="6858000"/>
          </a:xfrm>
          <a:prstGeom prst="rect">
            <a:avLst/>
          </a:prstGeom>
          <a:solidFill>
            <a:srgbClr val="12A4A4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554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12A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RESEARCH PROJECT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14884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Reaching Every Shelf: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4400" y="297180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Danone Egypt's Distribution and Availability Challenge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9776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D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Malhotra's Marketing Research Process (Chapters 1 to 5)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14400" y="4709160"/>
            <a:ext cx="5029200" cy="0"/>
          </a:xfrm>
          <a:prstGeom prst="line">
            <a:avLst/>
          </a:prstGeom>
          <a:noFill/>
          <a:ln w="19050">
            <a:solidFill>
              <a:srgbClr val="12A4A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489204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Sabri   •   Tariq Salama   •   Ahmad Awad   •   Mahmoud Ibrahim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9D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EMBA Program  |  2026   •   Final data: consumer survey N = 35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6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C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This Project Covers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188720"/>
          </a:xfrm>
          <a:prstGeom prst="rect">
            <a:avLst/>
          </a:prstGeom>
          <a:solidFill>
            <a:srgbClr val="1C6CAB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1993392"/>
            <a:ext cx="566928" cy="566928"/>
          </a:xfrm>
          <a:prstGeom prst="ellipse">
            <a:avLst/>
          </a:prstGeom>
          <a:solidFill>
            <a:srgbClr val="1C6CAB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99339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645920" y="1892808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C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645920" y="2295144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Danone's reach gap vs Juhayna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63640" y="1691640"/>
            <a:ext cx="54406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63640" y="1691640"/>
            <a:ext cx="82296" cy="1188720"/>
          </a:xfrm>
          <a:prstGeom prst="rect">
            <a:avLst/>
          </a:prstGeom>
          <a:solidFill>
            <a:srgbClr val="12A4A4"/>
          </a:solidFill>
          <a:ln/>
        </p:spPr>
      </p:sp>
      <p:sp>
        <p:nvSpPr>
          <p:cNvPr id="12" name="Shape 10"/>
          <p:cNvSpPr/>
          <p:nvPr/>
        </p:nvSpPr>
        <p:spPr>
          <a:xfrm>
            <a:off x="6583680" y="1993392"/>
            <a:ext cx="566928" cy="566928"/>
          </a:xfrm>
          <a:prstGeom prst="ellipse">
            <a:avLst/>
          </a:prstGeom>
          <a:solidFill>
            <a:srgbClr val="12A4A4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0" y="199339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360920" y="1892808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C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Definition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360920" y="2295144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problem, research problem, hypotheses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108960"/>
            <a:ext cx="54406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3108960"/>
            <a:ext cx="82296" cy="1188720"/>
          </a:xfrm>
          <a:prstGeom prst="rect">
            <a:avLst/>
          </a:prstGeom>
          <a:solidFill>
            <a:srgbClr val="E0922F"/>
          </a:solidFill>
          <a:ln/>
        </p:spPr>
      </p:sp>
      <p:sp>
        <p:nvSpPr>
          <p:cNvPr id="18" name="Shape 16"/>
          <p:cNvSpPr/>
          <p:nvPr/>
        </p:nvSpPr>
        <p:spPr>
          <a:xfrm>
            <a:off x="868680" y="3410712"/>
            <a:ext cx="566928" cy="566928"/>
          </a:xfrm>
          <a:prstGeom prst="ellipse">
            <a:avLst/>
          </a:prstGeom>
          <a:solidFill>
            <a:srgbClr val="E0922F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341071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645920" y="3310128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C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Design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645920" y="3712464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+ descriptive, secondary data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63640" y="3108960"/>
            <a:ext cx="54406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63640" y="3108960"/>
            <a:ext cx="82296" cy="1188720"/>
          </a:xfrm>
          <a:prstGeom prst="rect">
            <a:avLst/>
          </a:prstGeom>
          <a:solidFill>
            <a:srgbClr val="E1604D"/>
          </a:solidFill>
          <a:ln/>
        </p:spPr>
      </p:sp>
      <p:sp>
        <p:nvSpPr>
          <p:cNvPr id="24" name="Shape 22"/>
          <p:cNvSpPr/>
          <p:nvPr/>
        </p:nvSpPr>
        <p:spPr>
          <a:xfrm>
            <a:off x="6583680" y="3410712"/>
            <a:ext cx="566928" cy="566928"/>
          </a:xfrm>
          <a:prstGeom prst="ellipse">
            <a:avLst/>
          </a:prstGeom>
          <a:solidFill>
            <a:srgbClr val="E1604D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0" y="341071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7360920" y="3310128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C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Qualitative Research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7360920" y="3712464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interviews with shop owners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4526280"/>
            <a:ext cx="54406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48640" y="4526280"/>
            <a:ext cx="82296" cy="118872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30" name="Shape 28"/>
          <p:cNvSpPr/>
          <p:nvPr/>
        </p:nvSpPr>
        <p:spPr>
          <a:xfrm>
            <a:off x="868680" y="4828032"/>
            <a:ext cx="566928" cy="566928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31" name="Text 29"/>
          <p:cNvSpPr/>
          <p:nvPr/>
        </p:nvSpPr>
        <p:spPr>
          <a:xfrm>
            <a:off x="868680" y="482803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1645920" y="4727448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C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Survey &amp; Results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1645920" y="5129784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consumer survey, N = 35, findings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263640" y="4526280"/>
            <a:ext cx="54406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263640" y="4526280"/>
            <a:ext cx="82296" cy="1188720"/>
          </a:xfrm>
          <a:prstGeom prst="rect">
            <a:avLst/>
          </a:prstGeom>
          <a:solidFill>
            <a:srgbClr val="0F2C4C"/>
          </a:solidFill>
          <a:ln/>
        </p:spPr>
      </p:sp>
      <p:sp>
        <p:nvSpPr>
          <p:cNvPr id="36" name="Shape 34"/>
          <p:cNvSpPr/>
          <p:nvPr/>
        </p:nvSpPr>
        <p:spPr>
          <a:xfrm>
            <a:off x="6583680" y="4828032"/>
            <a:ext cx="566928" cy="566928"/>
          </a:xfrm>
          <a:prstGeom prst="ellipse">
            <a:avLst/>
          </a:prstGeom>
          <a:solidFill>
            <a:srgbClr val="0F2C4C"/>
          </a:solidFill>
          <a:ln/>
        </p:spPr>
      </p:sp>
      <p:sp>
        <p:nvSpPr>
          <p:cNvPr id="37" name="Text 35"/>
          <p:cNvSpPr/>
          <p:nvPr/>
        </p:nvSpPr>
        <p:spPr>
          <a:xfrm>
            <a:off x="6583680" y="482803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7360920" y="4727448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C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Recommendations</a:t>
            </a:r>
            <a:endParaRPr lang="en-US" sz="1700" dirty="0"/>
          </a:p>
        </p:txBody>
      </p:sp>
      <p:sp>
        <p:nvSpPr>
          <p:cNvPr id="39" name="Text 37"/>
          <p:cNvSpPr/>
          <p:nvPr/>
        </p:nvSpPr>
        <p:spPr>
          <a:xfrm>
            <a:off x="7360920" y="5129784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Answering the management question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Danone Egypt Distribution | Marketing Research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16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C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Danone Reaches Far Fewer Shops Than Juhayna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Egypt's dairy market the battle is won at the small grocery store. Juhayna's vast owned fleet puts it on far more shelves than Danone.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35661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286000"/>
            <a:ext cx="3566160" cy="109728"/>
          </a:xfrm>
          <a:prstGeom prst="rect">
            <a:avLst/>
          </a:prstGeom>
          <a:solidFill>
            <a:srgbClr val="E0922F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606040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E092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~243,000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822960" y="352044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outlets reached by Juhayna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43400" y="2286000"/>
            <a:ext cx="35661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43400" y="2286000"/>
            <a:ext cx="3566160" cy="109728"/>
          </a:xfrm>
          <a:prstGeom prst="rect">
            <a:avLst/>
          </a:prstGeom>
          <a:solidFill>
            <a:srgbClr val="1C6CAB"/>
          </a:solidFill>
          <a:ln/>
        </p:spPr>
      </p:sp>
      <p:sp>
        <p:nvSpPr>
          <p:cNvPr id="11" name="Text 9"/>
          <p:cNvSpPr/>
          <p:nvPr/>
        </p:nvSpPr>
        <p:spPr>
          <a:xfrm>
            <a:off x="4343400" y="2606040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C6C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~100,000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4617720" y="352044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of sale reached by Danone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38160" y="2286000"/>
            <a:ext cx="35661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138160" y="2286000"/>
            <a:ext cx="3566160" cy="109728"/>
          </a:xfrm>
          <a:prstGeom prst="rect">
            <a:avLst/>
          </a:prstGeom>
          <a:solidFill>
            <a:srgbClr val="E1604D"/>
          </a:solidFill>
          <a:ln/>
        </p:spPr>
      </p:sp>
      <p:sp>
        <p:nvSpPr>
          <p:cNvPr id="15" name="Text 13"/>
          <p:cNvSpPr/>
          <p:nvPr/>
        </p:nvSpPr>
        <p:spPr>
          <a:xfrm>
            <a:off x="8138160" y="2606040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E160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~40-60%</a:t>
            </a:r>
            <a:endParaRPr lang="en-US" sz="4600" dirty="0"/>
          </a:p>
        </p:txBody>
      </p:sp>
      <p:sp>
        <p:nvSpPr>
          <p:cNvPr id="16" name="Text 14"/>
          <p:cNvSpPr/>
          <p:nvPr/>
        </p:nvSpPr>
        <p:spPr>
          <a:xfrm>
            <a:off x="8412480" y="352044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gap vs Juhayna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526280"/>
            <a:ext cx="11064240" cy="1325880"/>
          </a:xfrm>
          <a:prstGeom prst="rect">
            <a:avLst/>
          </a:prstGeom>
          <a:solidFill>
            <a:srgbClr val="0F2C4C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709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A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2960" y="5029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traditional grocers are 96.6% of all outlets and about 74% of dairy sales. When Danone is not on the shelf, shoppers simply buy whatever brand is there.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Danone Egypt Distribution | Marketing Research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6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C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Marketing Research Process We Followed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103120"/>
            <a:ext cx="1188720" cy="1188720"/>
          </a:xfrm>
          <a:prstGeom prst="ellipse">
            <a:avLst/>
          </a:prstGeom>
          <a:solidFill>
            <a:srgbClr val="1C6CAB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10312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342900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103120" y="2697480"/>
            <a:ext cx="411480" cy="0"/>
          </a:xfrm>
          <a:prstGeom prst="line">
            <a:avLst/>
          </a:prstGeom>
          <a:noFill/>
          <a:ln w="25400">
            <a:solidFill>
              <a:srgbClr val="6B7C8C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770632" y="2103120"/>
            <a:ext cx="1188720" cy="1188720"/>
          </a:xfrm>
          <a:prstGeom prst="ellipse">
            <a:avLst/>
          </a:prstGeom>
          <a:solidFill>
            <a:srgbClr val="12A4A4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70632" y="210312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2404872" y="342900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approach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050792" y="2697480"/>
            <a:ext cx="411480" cy="0"/>
          </a:xfrm>
          <a:prstGeom prst="line">
            <a:avLst/>
          </a:prstGeom>
          <a:noFill/>
          <a:ln w="25400">
            <a:solidFill>
              <a:srgbClr val="6B7C8C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718304" y="2103120"/>
            <a:ext cx="1188720" cy="1188720"/>
          </a:xfrm>
          <a:prstGeom prst="ellipse">
            <a:avLst/>
          </a:prstGeom>
          <a:solidFill>
            <a:srgbClr val="E0922F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18304" y="210312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4352544" y="342900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research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998464" y="2697480"/>
            <a:ext cx="411480" cy="0"/>
          </a:xfrm>
          <a:prstGeom prst="line">
            <a:avLst/>
          </a:prstGeom>
          <a:noFill/>
          <a:ln w="25400">
            <a:solidFill>
              <a:srgbClr val="6B7C8C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665976" y="2103120"/>
            <a:ext cx="1188720" cy="1188720"/>
          </a:xfrm>
          <a:prstGeom prst="ellipse">
            <a:avLst/>
          </a:prstGeom>
          <a:solidFill>
            <a:srgbClr val="E1604D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665976" y="210312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6300216" y="342900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46136" y="2697480"/>
            <a:ext cx="411480" cy="0"/>
          </a:xfrm>
          <a:prstGeom prst="line">
            <a:avLst/>
          </a:prstGeom>
          <a:noFill/>
          <a:ln w="25400">
            <a:solidFill>
              <a:srgbClr val="6B7C8C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613648" y="2103120"/>
            <a:ext cx="1188720" cy="1188720"/>
          </a:xfrm>
          <a:prstGeom prst="ellipse">
            <a:avLst/>
          </a:prstGeom>
          <a:solidFill>
            <a:srgbClr val="2E8B57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613648" y="210312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8247888" y="342900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893808" y="2697480"/>
            <a:ext cx="411480" cy="0"/>
          </a:xfrm>
          <a:prstGeom prst="line">
            <a:avLst/>
          </a:prstGeom>
          <a:noFill/>
          <a:ln w="25400">
            <a:solidFill>
              <a:srgbClr val="6B7C8C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10561320" y="2103120"/>
            <a:ext cx="1188720" cy="1188720"/>
          </a:xfrm>
          <a:prstGeom prst="ellipse">
            <a:avLst/>
          </a:prstGeom>
          <a:solidFill>
            <a:srgbClr val="0F2C4C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0561320" y="210312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3400" dirty="0"/>
          </a:p>
        </p:txBody>
      </p:sp>
      <p:sp>
        <p:nvSpPr>
          <p:cNvPr id="26" name="Text 24"/>
          <p:cNvSpPr/>
          <p:nvPr/>
        </p:nvSpPr>
        <p:spPr>
          <a:xfrm>
            <a:off x="10195560" y="342900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48640" y="4663440"/>
            <a:ext cx="11064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489204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this maps to our report:  </a:t>
            </a:r>
            <a:pPr indent="0" marL="0">
              <a:buNone/>
            </a:pPr>
            <a:r>
              <a:rPr lang="en-US" sz="14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1-2 are Chapter 2,  Step 3 is Chapter 3,  Step 4 is Chapters 4 and 5 (interviews + survey),  Steps 5-6 are the analysis and this report.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Danone Egypt Distribution | Marketing Research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6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C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Company and the Market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4206240"/>
          </a:xfrm>
          <a:prstGeom prst="rect">
            <a:avLst/>
          </a:prstGeom>
          <a:solidFill>
            <a:srgbClr val="1C6CA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202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6C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Danone Egypt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" y="2423160"/>
            <a:ext cx="48006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Competes in dairy: yogurt, Activia, and Danette desserts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built on premium, branded, value-added products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Activia grew in 2024 on a gut-health and immunity message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Competes through brand strength, not mass reach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217920" y="1691640"/>
            <a:ext cx="539496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17920" y="1691640"/>
            <a:ext cx="82296" cy="4206240"/>
          </a:xfrm>
          <a:prstGeom prst="rect">
            <a:avLst/>
          </a:prstGeom>
          <a:solidFill>
            <a:srgbClr val="E0922F"/>
          </a:solidFill>
          <a:ln/>
        </p:spPr>
      </p:sp>
      <p:sp>
        <p:nvSpPr>
          <p:cNvPr id="10" name="Text 8"/>
          <p:cNvSpPr/>
          <p:nvPr/>
        </p:nvSpPr>
        <p:spPr>
          <a:xfrm>
            <a:off x="6537960" y="19202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092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Egyptian Dairy Market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537960" y="2423160"/>
            <a:ext cx="48006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Worth about USD 2.37 billion in 2024 and growing fast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Crowded: Juhayna, Domty, Almarai/Beyti, Lactalis, Danone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champions are vertically integrated and low cost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small shops dominate distribution and sales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Danone Egypt Distribution | Marketing Research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6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C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Defining the Problem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4114800"/>
          </a:xfrm>
          <a:prstGeom prst="rect">
            <a:avLst/>
          </a:prstGeom>
          <a:solidFill>
            <a:srgbClr val="0F2C4C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01168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A4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Management Decision Problem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26517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should management DO?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3154680"/>
            <a:ext cx="47548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“Should Danone Egypt expand its distribution reach to compete with Juhayna's coverage in the Egyptian dairy market?”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217920" y="1737360"/>
            <a:ext cx="5394960" cy="4114800"/>
          </a:xfrm>
          <a:prstGeom prst="rect">
            <a:avLst/>
          </a:prstGeom>
          <a:solidFill>
            <a:srgbClr val="1C6CAB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37960" y="201168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DE7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Marketing Research Problem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37960" y="26517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D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INFORMATION do we need?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37960" y="3154680"/>
            <a:ext cx="47548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 how limited availability affects consumers' yogurt choices and Danone's lost sales, and identify the distribution barriers from the retailer's side.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Danone Egypt Distribution | Marketing Research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6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C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Questions and Hypotheses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test four hypotheses with the survey data: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11064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057400"/>
            <a:ext cx="82296" cy="822960"/>
          </a:xfrm>
          <a:prstGeom prst="rect">
            <a:avLst/>
          </a:prstGeom>
          <a:solidFill>
            <a:srgbClr val="1C6CAB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2212848"/>
            <a:ext cx="512064" cy="512064"/>
          </a:xfrm>
          <a:prstGeom prst="ellipse">
            <a:avLst/>
          </a:prstGeom>
          <a:solidFill>
            <a:srgbClr val="1C6CAB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21284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508760" y="205740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significantly influences which yogurt brand consumers choose.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017520"/>
            <a:ext cx="11064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3017520"/>
            <a:ext cx="82296" cy="822960"/>
          </a:xfrm>
          <a:prstGeom prst="rect">
            <a:avLst/>
          </a:prstGeom>
          <a:solidFill>
            <a:srgbClr val="12A4A4"/>
          </a:solidFill>
          <a:ln/>
        </p:spPr>
      </p:sp>
      <p:sp>
        <p:nvSpPr>
          <p:cNvPr id="12" name="Shape 10"/>
          <p:cNvSpPr/>
          <p:nvPr/>
        </p:nvSpPr>
        <p:spPr>
          <a:xfrm>
            <a:off x="777240" y="3172968"/>
            <a:ext cx="512064" cy="512064"/>
          </a:xfrm>
          <a:prstGeom prst="ellipse">
            <a:avLst/>
          </a:prstGeom>
          <a:solidFill>
            <a:srgbClr val="12A4A4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17296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H2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508760" y="301752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Danone's perceived availability is significantly lower than Juhayna's.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3977640"/>
            <a:ext cx="11064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3977640"/>
            <a:ext cx="82296" cy="822960"/>
          </a:xfrm>
          <a:prstGeom prst="rect">
            <a:avLst/>
          </a:prstGeom>
          <a:solidFill>
            <a:srgbClr val="E1604D"/>
          </a:solidFill>
          <a:ln/>
        </p:spPr>
      </p:sp>
      <p:sp>
        <p:nvSpPr>
          <p:cNvPr id="17" name="Shape 15"/>
          <p:cNvSpPr/>
          <p:nvPr/>
        </p:nvSpPr>
        <p:spPr>
          <a:xfrm>
            <a:off x="777240" y="4133088"/>
            <a:ext cx="512064" cy="512064"/>
          </a:xfrm>
          <a:prstGeom prst="ellipse">
            <a:avLst/>
          </a:prstGeom>
          <a:solidFill>
            <a:srgbClr val="E1604D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13308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H3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508760" y="397764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consumers have switched away from Danone because it was not available.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8640" y="4937760"/>
            <a:ext cx="11064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4937760"/>
            <a:ext cx="82296" cy="822960"/>
          </a:xfrm>
          <a:prstGeom prst="rect">
            <a:avLst/>
          </a:prstGeom>
          <a:solidFill>
            <a:srgbClr val="E0922F"/>
          </a:solidFill>
          <a:ln/>
        </p:spPr>
      </p:sp>
      <p:sp>
        <p:nvSpPr>
          <p:cNvPr id="22" name="Shape 20"/>
          <p:cNvSpPr/>
          <p:nvPr/>
        </p:nvSpPr>
        <p:spPr>
          <a:xfrm>
            <a:off x="777240" y="5093208"/>
            <a:ext cx="512064" cy="512064"/>
          </a:xfrm>
          <a:prstGeom prst="ellipse">
            <a:avLst/>
          </a:prstGeom>
          <a:solidFill>
            <a:srgbClr val="E0922F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50932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H4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508760" y="493776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availability gap is wider in rural areas than in major cities.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Danone Egypt Distribution | Marketing Research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6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C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Design: A Combination Approach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949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83080"/>
            <a:ext cx="82296" cy="3931920"/>
          </a:xfrm>
          <a:prstGeom prst="rect">
            <a:avLst/>
          </a:prstGeom>
          <a:solidFill>
            <a:srgbClr val="12A4A4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0116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A4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Exploratory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" y="24688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issue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2971800"/>
            <a:ext cx="4800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data on the dairy market and distribution networks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Qualitative depth interviews with small-shop owners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Shapes and sharpens the survey questions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217920" y="1783080"/>
            <a:ext cx="53949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17920" y="1783080"/>
            <a:ext cx="82296" cy="3931920"/>
          </a:xfrm>
          <a:prstGeom prst="rect">
            <a:avLst/>
          </a:prstGeom>
          <a:solidFill>
            <a:srgbClr val="1C6CAB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20116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6C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Descriptive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537960" y="24688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the relationships (cross-sectional)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37960" y="2971800"/>
            <a:ext cx="4800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structured consumer survey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availability, brand choice, and switching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the four hypotheses with real respondents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Danone Egypt Distribution | Marketing Research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6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C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Secondary Data: The Distribution Gap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83080"/>
          <a:ext cx="649224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315200" y="1783080"/>
            <a:ext cx="4297680" cy="4023360"/>
          </a:xfrm>
          <a:prstGeom prst="rect">
            <a:avLst/>
          </a:prstGeom>
          <a:solidFill>
            <a:srgbClr val="0F2C4C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589520" y="19659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A4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the numbers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589520" y="2423160"/>
            <a:ext cx="37947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Juhayna: 39 distribution centers, 1,000+ vehicles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Danone: 31 centers (7 direct, 24 indirect)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Danone rural reach via ~380 micro-distributors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Juhayna's network is hard and costly to replicate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Danone Egypt Distribution | Marketing Research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C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2A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Small Shop Decides the Game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606040" cy="2743200"/>
          </a:xfrm>
          <a:prstGeom prst="rect">
            <a:avLst/>
          </a:prstGeom>
          <a:solidFill>
            <a:srgbClr val="163A5E"/>
          </a:solidFill>
          <a:ln w="12700">
            <a:solidFill>
              <a:srgbClr val="27507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011680"/>
            <a:ext cx="2606040" cy="109728"/>
          </a:xfrm>
          <a:prstGeom prst="rect">
            <a:avLst/>
          </a:prstGeom>
          <a:solidFill>
            <a:srgbClr val="12A4A4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468880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2A4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96.6%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640080" y="3611880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retail outlets in Egypt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01568" y="2011680"/>
            <a:ext cx="2606040" cy="2743200"/>
          </a:xfrm>
          <a:prstGeom prst="rect">
            <a:avLst/>
          </a:prstGeom>
          <a:solidFill>
            <a:srgbClr val="163A5E"/>
          </a:solidFill>
          <a:ln w="12700">
            <a:solidFill>
              <a:srgbClr val="27507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01568" y="2011680"/>
            <a:ext cx="2606040" cy="109728"/>
          </a:xfrm>
          <a:prstGeom prst="rect">
            <a:avLst/>
          </a:prstGeom>
          <a:solidFill>
            <a:srgbClr val="E0922F"/>
          </a:solidFill>
          <a:ln/>
        </p:spPr>
      </p:sp>
      <p:sp>
        <p:nvSpPr>
          <p:cNvPr id="10" name="Text 8"/>
          <p:cNvSpPr/>
          <p:nvPr/>
        </p:nvSpPr>
        <p:spPr>
          <a:xfrm>
            <a:off x="3401568" y="2468880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092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74%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3493008" y="3611880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total dairy sales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54496" y="2011680"/>
            <a:ext cx="2606040" cy="2743200"/>
          </a:xfrm>
          <a:prstGeom prst="rect">
            <a:avLst/>
          </a:prstGeom>
          <a:solidFill>
            <a:srgbClr val="163A5E"/>
          </a:solidFill>
          <a:ln w="12700">
            <a:solidFill>
              <a:srgbClr val="27507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54496" y="2011680"/>
            <a:ext cx="2606040" cy="109728"/>
          </a:xfrm>
          <a:prstGeom prst="rect">
            <a:avLst/>
          </a:prstGeom>
          <a:solidFill>
            <a:srgbClr val="7FB3DE"/>
          </a:solidFill>
          <a:ln/>
        </p:spPr>
      </p:sp>
      <p:sp>
        <p:nvSpPr>
          <p:cNvPr id="14" name="Text 12"/>
          <p:cNvSpPr/>
          <p:nvPr/>
        </p:nvSpPr>
        <p:spPr>
          <a:xfrm>
            <a:off x="6254496" y="2468880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7FB3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113,724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6345936" y="3611880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grocers nationwide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107424" y="2011680"/>
            <a:ext cx="2606040" cy="2743200"/>
          </a:xfrm>
          <a:prstGeom prst="rect">
            <a:avLst/>
          </a:prstGeom>
          <a:solidFill>
            <a:srgbClr val="163A5E"/>
          </a:solidFill>
          <a:ln w="12700">
            <a:solidFill>
              <a:srgbClr val="27507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07424" y="2011680"/>
            <a:ext cx="2606040" cy="109728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18" name="Text 16"/>
          <p:cNvSpPr/>
          <p:nvPr/>
        </p:nvSpPr>
        <p:spPr>
          <a:xfrm>
            <a:off x="9107424" y="2468880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E8B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$2.37B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9198864" y="3611880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dairy market size, 2024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52120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D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decisive channel is the neighbourhood shop, shelf presence is everything.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Danone Egypt Distribution | Marketing Research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16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 — FINDINGS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C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Juhayna Wins the Shelf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retailer depth interviews, from city centre to village (illustrative composites). Five themes recur.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38528"/>
            <a:ext cx="1106424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938528"/>
            <a:ext cx="82296" cy="676656"/>
          </a:xfrm>
          <a:prstGeom prst="rect">
            <a:avLst/>
          </a:prstGeom>
          <a:solidFill>
            <a:srgbClr val="E1604D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938528"/>
            <a:ext cx="23774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160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 / van visits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91840" y="1938528"/>
            <a:ext cx="81381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Juhayna calls weekly to twice-weekly, to the door. Danone ranges from once a week in a big Cairo shop to never in the village.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706624"/>
            <a:ext cx="1106424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2706624"/>
            <a:ext cx="82296" cy="676656"/>
          </a:xfrm>
          <a:prstGeom prst="rect">
            <a:avLst/>
          </a:prstGeom>
          <a:solidFill>
            <a:srgbClr val="1C6CAB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706624"/>
            <a:ext cx="23774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6C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Delivery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91840" y="2706624"/>
            <a:ext cx="81381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Juhayna delivers and stacks. Danone usually must be collected from a wholesaler, which lone and rural shops cannot do.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474720"/>
            <a:ext cx="1106424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3474720"/>
            <a:ext cx="82296" cy="676656"/>
          </a:xfrm>
          <a:prstGeom prst="rect">
            <a:avLst/>
          </a:prstGeom>
          <a:solidFill>
            <a:srgbClr val="E0922F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474720"/>
            <a:ext cx="23774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92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 terms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291840" y="3474720"/>
            <a:ext cx="81381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Juhayna: small minimums, light credit, takes back near-expiry stock. Danone: cash up front, larger minimum, spoilage is the grocer's loss.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242816"/>
            <a:ext cx="1106424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4242816"/>
            <a:ext cx="82296" cy="676656"/>
          </a:xfrm>
          <a:prstGeom prst="rect">
            <a:avLst/>
          </a:prstGeom>
          <a:solidFill>
            <a:srgbClr val="12A4A4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4242816"/>
            <a:ext cx="23774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A4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cooler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291840" y="4242816"/>
            <a:ext cx="81381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Juhayna and Almarai supply the branded fridge. Danone rarely does; in the village, cooler plus cold delivery is the whole game.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5010912"/>
            <a:ext cx="1106424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8640" y="5010912"/>
            <a:ext cx="82296" cy="676656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5010912"/>
            <a:ext cx="23774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B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Demand pull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291840" y="5010912"/>
            <a:ext cx="81381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ask by name for Activia and Danette and will wait. For plain yogurt they take whatever is on the shelf.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widens monotonically: present on city main streets  →  "Danone stops at the big city"  →  simply absent in the village.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Danone Egypt Distribution | Marketing Research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C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Survey: Our Primary Data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4008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37360"/>
            <a:ext cx="82296" cy="411480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65960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B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electronic survey (Google Forms)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2377440"/>
            <a:ext cx="5806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Self-administered, in Egyptian Arabic, about 4 minutes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via WhatsApp and social media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Convenience and snowball sampling; target was 100 to 150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Achieved N = 35 valid responses (pilot scale, indicative)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and urban skew noted; offset by the retailer interviews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223760" y="1737360"/>
            <a:ext cx="4389120" cy="4114800"/>
          </a:xfrm>
          <a:prstGeom prst="rect">
            <a:avLst/>
          </a:prstGeom>
          <a:solidFill>
            <a:srgbClr val="0F2C4C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498080" y="19659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A4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question earns its place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498080" y="2423160"/>
            <a:ext cx="39319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 -  importance of availability</a:t>
            </a:r>
            <a:endParaRPr lang="en-US" sz="135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 -  availability grid: Danone vs Juhayna</a:t>
            </a:r>
            <a:endParaRPr lang="en-US" sz="135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  -  preferred vs actually-bought gap</a:t>
            </a:r>
            <a:endParaRPr lang="en-US" sz="135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H4  -  availability split by area type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Danone Egypt Distribution | Marketing Research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6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 — 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C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Answered, and What Drives Choice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37360"/>
          <a:ext cx="676656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543800" y="1737360"/>
            <a:ext cx="4069080" cy="4023360"/>
          </a:xfrm>
          <a:prstGeom prst="rect">
            <a:avLst/>
          </a:prstGeom>
          <a:solidFill>
            <a:srgbClr val="0F2C4C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772400" y="1920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A4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sample (N = 35)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772400" y="2331720"/>
            <a:ext cx="361188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Alexandria 24, Sharqia 6, Cairo 2, Dakahlia 2, Beheira 1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city 23, town 10, village 2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7 (20%) buy from a small grocery, the key channel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Skews urban and modern-trade, so it understates the gap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E16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H1: availability ranks LAST of six drivers (3.14). It is a silent gatekeeper, not a stated preference.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Danone Egypt Distribution | Marketing Research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2A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 — 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C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Gap Is Real, and It Costs Sales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A4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H2 — Perceived availability (mean, 1-5)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2011680"/>
          <a:ext cx="548640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8064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= 0.53. Modest at the consumer level, but the urban sample understates it.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6309360" y="15544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160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H3 — Unrealised demand and switching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309360" y="2011680"/>
            <a:ext cx="53035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309360" y="2011680"/>
            <a:ext cx="82296" cy="1115568"/>
          </a:xfrm>
          <a:prstGeom prst="rect">
            <a:avLst/>
          </a:prstGeom>
          <a:solidFill>
            <a:srgbClr val="E1604D"/>
          </a:solidFill>
          <a:ln/>
        </p:spPr>
      </p:sp>
      <p:sp>
        <p:nvSpPr>
          <p:cNvPr id="10" name="Text 7"/>
          <p:cNvSpPr/>
          <p:nvPr/>
        </p:nvSpPr>
        <p:spPr>
          <a:xfrm>
            <a:off x="6537960" y="210312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160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  vs  5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8686800" y="2011680"/>
            <a:ext cx="278892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Danone vs actually buy it most  →  a gap of 6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309360" y="3291840"/>
            <a:ext cx="53035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309360" y="3291840"/>
            <a:ext cx="82296" cy="1115568"/>
          </a:xfrm>
          <a:prstGeom prst="rect">
            <a:avLst/>
          </a:prstGeom>
          <a:solidFill>
            <a:srgbClr val="E0922F"/>
          </a:solidFill>
          <a:ln/>
        </p:spPr>
      </p:sp>
      <p:sp>
        <p:nvSpPr>
          <p:cNvPr id="14" name="Text 11"/>
          <p:cNvSpPr/>
          <p:nvPr/>
        </p:nvSpPr>
        <p:spPr>
          <a:xfrm>
            <a:off x="6537960" y="338328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092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32 of 35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8686800" y="3291840"/>
            <a:ext cx="278892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bought a competing brand when Danone was missing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309360" y="4572000"/>
            <a:ext cx="53035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309360" y="4572000"/>
            <a:ext cx="82296" cy="1115568"/>
          </a:xfrm>
          <a:prstGeom prst="rect">
            <a:avLst/>
          </a:prstGeom>
          <a:solidFill>
            <a:srgbClr val="1C6CAB"/>
          </a:solidFill>
          <a:ln/>
        </p:spPr>
      </p:sp>
      <p:sp>
        <p:nvSpPr>
          <p:cNvPr id="18" name="Text 15"/>
          <p:cNvSpPr/>
          <p:nvPr/>
        </p:nvSpPr>
        <p:spPr>
          <a:xfrm>
            <a:off x="6537960" y="466344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6C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Premium line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8686800" y="4572000"/>
            <a:ext cx="278892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sales concentrate in Activia and Danette, where buyers ask by name and will wait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Danone Egypt Distribution | Marketing Research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9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 — 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C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Area, and the Verdict on Each Hypothesis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92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H4 — Danone vs Juhayna availability by area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2011680"/>
          <a:ext cx="585216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760720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City-to-town dip in the survey; only 2 rural respondents, so H4 leans on the interviews.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766560" y="1828800"/>
            <a:ext cx="48463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766560" y="1828800"/>
            <a:ext cx="82296" cy="841248"/>
          </a:xfrm>
          <a:prstGeom prst="rect">
            <a:avLst/>
          </a:prstGeom>
          <a:solidFill>
            <a:srgbClr val="6B7C8C"/>
          </a:solidFill>
          <a:ln/>
        </p:spPr>
      </p:sp>
      <p:sp>
        <p:nvSpPr>
          <p:cNvPr id="9" name="Shape 6"/>
          <p:cNvSpPr/>
          <p:nvPr/>
        </p:nvSpPr>
        <p:spPr>
          <a:xfrm>
            <a:off x="6967728" y="2011680"/>
            <a:ext cx="475488" cy="475488"/>
          </a:xfrm>
          <a:prstGeom prst="ellipse">
            <a:avLst/>
          </a:prstGeom>
          <a:solidFill>
            <a:srgbClr val="6B7C8C"/>
          </a:solidFill>
          <a:ln/>
        </p:spPr>
      </p:sp>
      <p:sp>
        <p:nvSpPr>
          <p:cNvPr id="10" name="Text 7"/>
          <p:cNvSpPr/>
          <p:nvPr/>
        </p:nvSpPr>
        <p:spPr>
          <a:xfrm>
            <a:off x="6967728" y="201168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H1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635240" y="1938528"/>
            <a:ext cx="3886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supported as a stated driver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7635240" y="2304288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ranks 6th of 6 (3.14)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766560" y="2788920"/>
            <a:ext cx="48463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766560" y="2788920"/>
            <a:ext cx="82296" cy="841248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15" name="Shape 12"/>
          <p:cNvSpPr/>
          <p:nvPr/>
        </p:nvSpPr>
        <p:spPr>
          <a:xfrm>
            <a:off x="6967728" y="2971800"/>
            <a:ext cx="475488" cy="475488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16" name="Text 13"/>
          <p:cNvSpPr/>
          <p:nvPr/>
        </p:nvSpPr>
        <p:spPr>
          <a:xfrm>
            <a:off x="6967728" y="297180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H2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7635240" y="2898648"/>
            <a:ext cx="3886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 (modestly)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7635240" y="3264408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4.03 vs 4.56, gap 0.53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766560" y="3749040"/>
            <a:ext cx="48463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766560" y="3749040"/>
            <a:ext cx="82296" cy="841248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21" name="Shape 18"/>
          <p:cNvSpPr/>
          <p:nvPr/>
        </p:nvSpPr>
        <p:spPr>
          <a:xfrm>
            <a:off x="6967728" y="3931920"/>
            <a:ext cx="475488" cy="475488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22" name="Text 19"/>
          <p:cNvSpPr/>
          <p:nvPr/>
        </p:nvSpPr>
        <p:spPr>
          <a:xfrm>
            <a:off x="6967728" y="39319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H3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7635240" y="3858768"/>
            <a:ext cx="3886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</a:t>
            </a:r>
            <a:endParaRPr lang="en-US" sz="1350" dirty="0"/>
          </a:p>
        </p:txBody>
      </p:sp>
      <p:sp>
        <p:nvSpPr>
          <p:cNvPr id="24" name="Text 21"/>
          <p:cNvSpPr/>
          <p:nvPr/>
        </p:nvSpPr>
        <p:spPr>
          <a:xfrm>
            <a:off x="7635240" y="4224528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11 / buy 5; 32 of 35 switched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766560" y="4709160"/>
            <a:ext cx="48463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766560" y="4709160"/>
            <a:ext cx="82296" cy="841248"/>
          </a:xfrm>
          <a:prstGeom prst="rect">
            <a:avLst/>
          </a:prstGeom>
          <a:solidFill>
            <a:srgbClr val="E0922F"/>
          </a:solidFill>
          <a:ln/>
        </p:spPr>
      </p:sp>
      <p:sp>
        <p:nvSpPr>
          <p:cNvPr id="27" name="Shape 24"/>
          <p:cNvSpPr/>
          <p:nvPr/>
        </p:nvSpPr>
        <p:spPr>
          <a:xfrm>
            <a:off x="6967728" y="4892040"/>
            <a:ext cx="475488" cy="475488"/>
          </a:xfrm>
          <a:prstGeom prst="ellipse">
            <a:avLst/>
          </a:prstGeom>
          <a:solidFill>
            <a:srgbClr val="E0922F"/>
          </a:solidFill>
          <a:ln/>
        </p:spPr>
      </p:sp>
      <p:sp>
        <p:nvSpPr>
          <p:cNvPr id="28" name="Text 25"/>
          <p:cNvSpPr/>
          <p:nvPr/>
        </p:nvSpPr>
        <p:spPr>
          <a:xfrm>
            <a:off x="6967728" y="489204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H4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7635240" y="4818888"/>
            <a:ext cx="3886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Directionally supported</a:t>
            </a:r>
            <a:endParaRPr lang="en-US" sz="1350" dirty="0"/>
          </a:p>
        </p:txBody>
      </p:sp>
      <p:sp>
        <p:nvSpPr>
          <p:cNvPr id="30" name="Text 27"/>
          <p:cNvSpPr/>
          <p:nvPr/>
        </p:nvSpPr>
        <p:spPr>
          <a:xfrm>
            <a:off x="7635240" y="5184648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city-town dip; clear in interviews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Danone Egypt Distribution | Marketing Research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6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C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Recommendations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binding constraint is route-to-market, not the product. Four moves, in priority order: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54406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057400"/>
            <a:ext cx="82296" cy="1645920"/>
          </a:xfrm>
          <a:prstGeom prst="rect">
            <a:avLst/>
          </a:prstGeom>
          <a:solidFill>
            <a:srgbClr val="1C6CAB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258568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6C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Fix the route-to-market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2770632"/>
            <a:ext cx="4983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Juhayna's three shelf-winning levers: scheduled rep visits, near-expiry returns or consignment, and smaller minimum orders. Not advertising.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2057400"/>
            <a:ext cx="54406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63640" y="2057400"/>
            <a:ext cx="82296" cy="1645920"/>
          </a:xfrm>
          <a:prstGeom prst="rect">
            <a:avLst/>
          </a:prstGeom>
          <a:solidFill>
            <a:srgbClr val="12A4A4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2258568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A4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Lead with the premium line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537960" y="2770632"/>
            <a:ext cx="4983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Activia and Danette first, where brand-locked demand and the best retailer margin make an availability fix pay back fastest.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931920"/>
            <a:ext cx="54406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3931920"/>
            <a:ext cx="82296" cy="1645920"/>
          </a:xfrm>
          <a:prstGeom prst="rect">
            <a:avLst/>
          </a:prstGeom>
          <a:solidFill>
            <a:srgbClr val="E0922F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133088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092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Towns before villages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22960" y="4645152"/>
            <a:ext cx="4983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Densify suburban and town coverage first for quick payback, then reach the rural last mile via micro-distributors and solar coolers.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63640" y="3931920"/>
            <a:ext cx="54406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63640" y="3931920"/>
            <a:ext cx="82296" cy="164592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19" name="Text 17"/>
          <p:cNvSpPr/>
          <p:nvPr/>
        </p:nvSpPr>
        <p:spPr>
          <a:xfrm>
            <a:off x="6537960" y="4133088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8B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Provide the cooler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537960" y="4645152"/>
            <a:ext cx="4983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the branded fridge: a merchandising asset and the precondition for stocking chilled product where power is unreliable.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Danone Egypt Distribution | Marketing Research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2C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2A4A4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37744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and discussion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914400" y="4206240"/>
            <a:ext cx="4572000" cy="0"/>
          </a:xfrm>
          <a:prstGeom prst="line">
            <a:avLst/>
          </a:prstGeom>
          <a:noFill/>
          <a:ln w="19050">
            <a:solidFill>
              <a:srgbClr val="12A4A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43891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D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Sabri  •  Tariq Salama  •  Ahmad Awad  •  Mahmoud Ibrahim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Danone Egypt Distribution Market Research (v2, final data)</dc:title>
  <dc:subject>PptxGenJS Presentation</dc:subject>
  <dc:creator>EMBA Marketing Research Group</dc:creator>
  <cp:lastModifiedBy>EMBA Marketing Research Group</cp:lastModifiedBy>
  <cp:revision>1</cp:revision>
  <dcterms:created xsi:type="dcterms:W3CDTF">2026-06-29T17:25:05Z</dcterms:created>
  <dcterms:modified xsi:type="dcterms:W3CDTF">2026-06-29T17:25:05Z</dcterms:modified>
</cp:coreProperties>
</file>